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Strongly Disagree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</c:spPr>
          <c:dLbls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Supply chain is well-optimised</c:v>
                </c:pt>
                <c:pt idx="1">
                  <c:v>Supplier relationships are strong</c:v>
                </c:pt>
                <c:pt idx="2">
                  <c:v>Procurement process is efficient</c:v>
                </c:pt>
                <c:pt idx="3">
                  <c:v>Cost-savings targets are achievable</c:v>
                </c:pt>
                <c:pt idx="4">
                  <c:v>Technology tools are adequate</c:v>
                </c:pt>
                <c:pt idx="5">
                  <c:v>Sustainability goals are clear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-0.15</c:v>
                </c:pt>
                <c:pt idx="1">
                  <c:v>-0.1</c:v>
                </c:pt>
                <c:pt idx="2">
                  <c:v>-0.22</c:v>
                </c:pt>
                <c:pt idx="3">
                  <c:v>-0.05</c:v>
                </c:pt>
                <c:pt idx="4">
                  <c:v>-0.26</c:v>
                </c:pt>
                <c:pt idx="5">
                  <c:v>-0.12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Disagree</c:v>
                </c:pt>
              </c:strCache>
            </c:strRef>
          </c:tx>
          <c:spPr>
            <a:solidFill>
              <a:srgbClr val="FF7C80"/>
            </a:solidFill>
            <a:ln>
              <a:solidFill>
                <a:srgbClr val="FF7C80"/>
              </a:solidFill>
            </a:ln>
          </c:spPr>
          <c:dLbls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Supply chain is well-optimised</c:v>
                </c:pt>
                <c:pt idx="1">
                  <c:v>Supplier relationships are strong</c:v>
                </c:pt>
                <c:pt idx="2">
                  <c:v>Procurement process is efficient</c:v>
                </c:pt>
                <c:pt idx="3">
                  <c:v>Cost-savings targets are achievable</c:v>
                </c:pt>
                <c:pt idx="4">
                  <c:v>Technology tools are adequate</c:v>
                </c:pt>
                <c:pt idx="5">
                  <c:v>Sustainability goals are clear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-0.22</c:v>
                </c:pt>
                <c:pt idx="1">
                  <c:v>-0.18</c:v>
                </c:pt>
                <c:pt idx="2">
                  <c:v>-0.28</c:v>
                </c:pt>
                <c:pt idx="3">
                  <c:v>-0.12</c:v>
                </c:pt>
                <c:pt idx="4">
                  <c:v>-0.19</c:v>
                </c:pt>
                <c:pt idx="5">
                  <c:v>-0.15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Agree</c:v>
                </c:pt>
              </c:strCache>
            </c:strRef>
          </c:tx>
          <c:spPr>
            <a:solidFill>
              <a:srgbClr val="9DC3E6"/>
            </a:solidFill>
            <a:ln>
              <a:solidFill>
                <a:srgbClr val="9DC3E6"/>
              </a:solidFill>
            </a:ln>
          </c:spPr>
          <c:dLbls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Supply chain is well-optimised</c:v>
                </c:pt>
                <c:pt idx="1">
                  <c:v>Supplier relationships are strong</c:v>
                </c:pt>
                <c:pt idx="2">
                  <c:v>Procurement process is efficient</c:v>
                </c:pt>
                <c:pt idx="3">
                  <c:v>Cost-savings targets are achievable</c:v>
                </c:pt>
                <c:pt idx="4">
                  <c:v>Technology tools are adequate</c:v>
                </c:pt>
                <c:pt idx="5">
                  <c:v>Sustainability goals are clear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</c:v>
                </c:pt>
                <c:pt idx="1">
                  <c:v>0.42</c:v>
                </c:pt>
                <c:pt idx="2">
                  <c:v>0.25</c:v>
                </c:pt>
                <c:pt idx="3">
                  <c:v>0.5</c:v>
                </c:pt>
                <c:pt idx="4">
                  <c:v>0.28</c:v>
                </c:pt>
                <c:pt idx="5">
                  <c:v>0.4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Strongly Agree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rgbClr val="002060"/>
              </a:solidFill>
            </a:ln>
          </c:spPr>
          <c:dLbls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Supply chain is well-optimised</c:v>
                </c:pt>
                <c:pt idx="1">
                  <c:v>Supplier relationships are strong</c:v>
                </c:pt>
                <c:pt idx="2">
                  <c:v>Procurement process is efficient</c:v>
                </c:pt>
                <c:pt idx="3">
                  <c:v>Cost-savings targets are achievable</c:v>
                </c:pt>
                <c:pt idx="4">
                  <c:v>Technology tools are adequate</c:v>
                </c:pt>
                <c:pt idx="5">
                  <c:v>Sustainability goals are clear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0.25</c:v>
                </c:pt>
                <c:pt idx="1">
                  <c:v>0.3</c:v>
                </c:pt>
                <c:pt idx="2">
                  <c:v>0.25</c:v>
                </c:pt>
                <c:pt idx="3">
                  <c:v>0.33</c:v>
                </c:pt>
                <c:pt idx="4">
                  <c:v>0.27</c:v>
                </c:pt>
                <c:pt idx="5">
                  <c:v>0.33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30% Off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rgbClr val="002060"/>
              </a:solidFill>
            </a:ln>
          </c:spPr>
          <c:xVal>
            <c:numRef>
              <c:f>Sheet1!$A$2:$A$8</c:f>
              <c:numCache>
                <c:formatCode>General</c:formatCode>
                <c:ptCount val="7"/>
                <c:pt idx="0">
                  <c:v>100</c:v>
                </c:pt>
                <c:pt idx="1">
                  <c:v>200</c:v>
                </c:pt>
                <c:pt idx="2">
                  <c:v>320</c:v>
                </c:pt>
                <c:pt idx="3">
                  <c:v>480</c:v>
                </c:pt>
                <c:pt idx="4">
                  <c:v>650</c:v>
                </c:pt>
                <c:pt idx="5">
                  <c:v>820</c:v>
                </c:pt>
                <c:pt idx="6">
                  <c:v>950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42</c:v>
                </c:pt>
                <c:pt idx="2">
                  <c:v>39</c:v>
                </c:pt>
                <c:pt idx="3">
                  <c:v>35</c:v>
                </c:pt>
                <c:pt idx="4">
                  <c:v>31</c:v>
                </c:pt>
                <c:pt idx="5">
                  <c:v>28</c:v>
                </c:pt>
                <c:pt idx="6">
                  <c:v>25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Buy 2 Get 1 Free</c:v>
                </c:pt>
              </c:strCache>
            </c:strRef>
          </c:tx>
          <c:spPr>
            <a:solidFill>
              <a:srgbClr val="1F5FA6"/>
            </a:solidFill>
            <a:ln>
              <a:solidFill>
                <a:srgbClr val="1F5FA6"/>
              </a:solidFill>
            </a:ln>
          </c:spPr>
          <c:xVal>
            <c:numRef>
              <c:f>Sheet1!$A$11:$A$17</c:f>
              <c:numCache>
                <c:formatCode>General</c:formatCode>
                <c:ptCount val="7"/>
                <c:pt idx="0">
                  <c:v>150</c:v>
                </c:pt>
                <c:pt idx="1">
                  <c:v>280</c:v>
                </c:pt>
                <c:pt idx="2">
                  <c:v>410</c:v>
                </c:pt>
                <c:pt idx="3">
                  <c:v>560</c:v>
                </c:pt>
                <c:pt idx="4">
                  <c:v>710</c:v>
                </c:pt>
                <c:pt idx="5">
                  <c:v>860</c:v>
                </c:pt>
                <c:pt idx="6">
                  <c:v>980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40</c:v>
                </c:pt>
                <c:pt idx="1">
                  <c:v>37</c:v>
                </c:pt>
                <c:pt idx="2">
                  <c:v>33</c:v>
                </c:pt>
                <c:pt idx="3">
                  <c:v>30</c:v>
                </c:pt>
                <c:pt idx="4">
                  <c:v>27</c:v>
                </c:pt>
                <c:pt idx="5">
                  <c:v>24</c:v>
                </c:pt>
                <c:pt idx="6">
                  <c:v>22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Target GM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</c:spPr>
          <c:xVal>
            <c:numRef>
              <c:f>Sheet1!$A$20:$A$21</c:f>
              <c:numCache>
                <c:formatCode>General</c:formatCode>
                <c:ptCount val="2"/>
                <c:pt idx="0">
                  <c:v>80</c:v>
                </c:pt>
                <c:pt idx="1">
                  <c:v>1000</c:v>
                </c:pt>
              </c:numCache>
            </c:numRef>
          </c:xVal>
          <c:yVal>
            <c:numRef>
              <c:f>Sheet1!$B$20:$B$21</c:f>
              <c:numCache>
                <c:formatCode>General</c:formatCode>
                <c:ptCount val="2"/>
                <c:pt idx="0">
                  <c:v>30</c:v>
                </c:pt>
                <c:pt idx="1">
                  <c:v>30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1">
                <a:solidFill>
                  <a:srgbClr val="002060"/>
                </a:solidFill>
                <a:latin typeface="Arial"/>
              </a:defRPr>
            </a:pPr>
            <a:r>
              <a:t>2019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dPt>
            <c:idx val="0"/>
            <c:spPr>
              <a:solidFill>
                <a:srgbClr val="002060"/>
              </a:solidFill>
            </c:spPr>
          </c:dPt>
          <c:dPt>
            <c:idx val="1"/>
            <c:spPr>
              <a:solidFill>
                <a:srgbClr val="1F5FA6"/>
              </a:solidFill>
            </c:spPr>
          </c:dPt>
          <c:dPt>
            <c:idx val="2"/>
            <c:spPr>
              <a:solidFill>
                <a:srgbClr val="9DC3E6"/>
              </a:solidFill>
            </c:spPr>
          </c:dPt>
          <c:dPt>
            <c:idx val="3"/>
            <c:spPr>
              <a:solidFill>
                <a:srgbClr val="BDD7EE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D9D9D9"/>
              </a:solidFill>
            </c:spPr>
          </c:dPt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 &amp; Garden</c:v>
                </c:pt>
                <c:pt idx="3">
                  <c:v>Sports</c:v>
                </c:pt>
                <c:pt idx="4">
                  <c:v>Beauty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0.35</c:v>
                </c:pt>
                <c:pt idx="1">
                  <c:v>0.2</c:v>
                </c:pt>
                <c:pt idx="2">
                  <c:v>0.18</c:v>
                </c:pt>
                <c:pt idx="3">
                  <c:v>0.12</c:v>
                </c:pt>
                <c:pt idx="4">
                  <c:v>0.09</c:v>
                </c:pt>
                <c:pt idx="5">
                  <c:v>0.06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1">
                <a:solidFill>
                  <a:srgbClr val="002060"/>
                </a:solidFill>
                <a:latin typeface="Arial"/>
              </a:defRPr>
            </a:pPr>
            <a:r>
              <a:t>2021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dPt>
            <c:idx val="0"/>
            <c:spPr>
              <a:solidFill>
                <a:srgbClr val="002060"/>
              </a:solidFill>
            </c:spPr>
          </c:dPt>
          <c:dPt>
            <c:idx val="1"/>
            <c:spPr>
              <a:solidFill>
                <a:srgbClr val="1F5FA6"/>
              </a:solidFill>
            </c:spPr>
          </c:dPt>
          <c:dPt>
            <c:idx val="2"/>
            <c:spPr>
              <a:solidFill>
                <a:srgbClr val="9DC3E6"/>
              </a:solidFill>
            </c:spPr>
          </c:dPt>
          <c:dPt>
            <c:idx val="3"/>
            <c:spPr>
              <a:solidFill>
                <a:srgbClr val="BDD7EE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D9D9D9"/>
              </a:solidFill>
            </c:spPr>
          </c:dPt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 &amp; Garden</c:v>
                </c:pt>
                <c:pt idx="3">
                  <c:v>Sports</c:v>
                </c:pt>
                <c:pt idx="4">
                  <c:v>Beauty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0.38</c:v>
                </c:pt>
                <c:pt idx="1">
                  <c:v>0.22</c:v>
                </c:pt>
                <c:pt idx="2">
                  <c:v>0.16</c:v>
                </c:pt>
                <c:pt idx="3">
                  <c:v>0.11</c:v>
                </c:pt>
                <c:pt idx="4">
                  <c:v>0.08</c:v>
                </c:pt>
                <c:pt idx="5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1">
                <a:solidFill>
                  <a:srgbClr val="002060"/>
                </a:solidFill>
                <a:latin typeface="Arial"/>
              </a:defRPr>
            </a:pPr>
            <a:r>
              <a:t>2024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dPt>
            <c:idx val="0"/>
            <c:spPr>
              <a:solidFill>
                <a:srgbClr val="002060"/>
              </a:solidFill>
            </c:spPr>
          </c:dPt>
          <c:dPt>
            <c:idx val="1"/>
            <c:spPr>
              <a:solidFill>
                <a:srgbClr val="1F5FA6"/>
              </a:solidFill>
            </c:spPr>
          </c:dPt>
          <c:dPt>
            <c:idx val="2"/>
            <c:spPr>
              <a:solidFill>
                <a:srgbClr val="9DC3E6"/>
              </a:solidFill>
            </c:spPr>
          </c:dPt>
          <c:dPt>
            <c:idx val="3"/>
            <c:spPr>
              <a:solidFill>
                <a:srgbClr val="BDD7EE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D9D9D9"/>
              </a:solidFill>
            </c:spPr>
          </c:dPt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 &amp; Garden</c:v>
                </c:pt>
                <c:pt idx="3">
                  <c:v>Sports</c:v>
                </c:pt>
                <c:pt idx="4">
                  <c:v>Beauty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0.19</c:v>
                </c:pt>
                <c:pt idx="2">
                  <c:v>0.15</c:v>
                </c:pt>
                <c:pt idx="3">
                  <c:v>0.1</c:v>
                </c:pt>
                <c:pt idx="4">
                  <c:v>0.09</c:v>
                </c:pt>
                <c:pt idx="5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Min (hidden)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85</c:v>
                </c:pt>
                <c:pt idx="2">
                  <c:v>78</c:v>
                </c:pt>
                <c:pt idx="3">
                  <c:v>90</c:v>
                </c:pt>
                <c:pt idx="4">
                  <c:v>88</c:v>
                </c:pt>
                <c:pt idx="5">
                  <c:v>82</c:v>
                </c:pt>
                <c:pt idx="6">
                  <c:v>95</c:v>
                </c:pt>
                <c:pt idx="7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3-Year Range</c:v>
                </c:pt>
              </c:strCache>
            </c:strRef>
          </c:tx>
          <c:spPr>
            <a:solidFill>
              <a:srgbClr val="BDD7EE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</c:v>
                </c:pt>
                <c:pt idx="1">
                  <c:v>40</c:v>
                </c:pt>
                <c:pt idx="2">
                  <c:v>37</c:v>
                </c:pt>
                <c:pt idx="3">
                  <c:v>40</c:v>
                </c:pt>
                <c:pt idx="4">
                  <c:v>40</c:v>
                </c:pt>
                <c:pt idx="5">
                  <c:v>38</c:v>
                </c:pt>
                <c:pt idx="6">
                  <c:v>45</c:v>
                </c:pt>
                <c:pt idx="7">
                  <c:v>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3-Year Avg</c:v>
                </c:pt>
              </c:strCache>
            </c:strRef>
          </c:tx>
          <c:spPr>
            <a:solidFill>
              <a:srgbClr val="7F7F7F"/>
            </a:solidFill>
            <a:ln>
              <a:solidFill>
                <a:srgbClr val="7F7F7F"/>
              </a:solidFill>
            </a:ln>
          </c:spPr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</c:v>
                </c:pt>
                <c:pt idx="1">
                  <c:v>105</c:v>
                </c:pt>
                <c:pt idx="2">
                  <c:v>97</c:v>
                </c:pt>
                <c:pt idx="3">
                  <c:v>110</c:v>
                </c:pt>
                <c:pt idx="4">
                  <c:v>108</c:v>
                </c:pt>
                <c:pt idx="5">
                  <c:v>101</c:v>
                </c:pt>
                <c:pt idx="6">
                  <c:v>118</c:v>
                </c:pt>
                <c:pt idx="7">
                  <c:v>113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rgbClr val="002060"/>
              </a:solidFill>
            </a:ln>
          </c:spPr>
          <c:dLbls>
            <c:txPr>
              <a:bodyPr/>
              <a:lstStyle/>
              <a:p>
                <a:pPr>
                  <a:defRPr sz="800" b="1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95</c:v>
                </c:pt>
                <c:pt idx="1">
                  <c:v>108</c:v>
                </c:pt>
                <c:pt idx="2">
                  <c:v>102</c:v>
                </c:pt>
                <c:pt idx="3">
                  <c:v>115</c:v>
                </c:pt>
                <c:pt idx="4">
                  <c:v>112</c:v>
                </c:pt>
                <c:pt idx="5">
                  <c:v>98</c:v>
                </c:pt>
                <c:pt idx="6">
                  <c:v>125</c:v>
                </c:pt>
                <c:pt idx="7">
                  <c:v>120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</c:spPr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110</c:v>
                </c:pt>
                <c:pt idx="1">
                  <c:v>110</c:v>
                </c:pt>
                <c:pt idx="2">
                  <c:v>110</c:v>
                </c:pt>
                <c:pt idx="3">
                  <c:v>110</c:v>
                </c:pt>
                <c:pt idx="4">
                  <c:v>110</c:v>
                </c:pt>
                <c:pt idx="5">
                  <c:v>110</c:v>
                </c:pt>
                <c:pt idx="6">
                  <c:v>110</c:v>
                </c:pt>
                <c:pt idx="7">
                  <c:v>110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2060"/>
                </a:solidFill>
                <a:latin typeface="Arial"/>
              </a:defRPr>
            </a:pPr>
            <a:r>
              <a:t>Global Business Services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F7F7F"/>
                </a:solidFill>
                <a:latin typeface="Arial"/>
              </a:defRPr>
            </a:pPr>
            <a:r>
              <a:t>FTE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039569"/>
            <a:ext cx="1280160" cy="181259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84577"/>
            <a:ext cx="1280160" cy="15225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123091"/>
            <a:ext cx="1280160" cy="9164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96409"/>
            <a:ext cx="1280160" cy="76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30641"/>
            <a:ext cx="1280160" cy="692450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486037"/>
            <a:ext cx="1280160" cy="581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921486"/>
            <a:ext cx="1280160" cy="50915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962219"/>
            <a:ext cx="1280160" cy="4276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2887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Arial"/>
              </a:defRPr>
            </a:pPr>
            <a:r>
              <a:t>193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4507992"/>
            <a:ext cx="1280160" cy="1344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4615525"/>
            <a:ext cx="1280160" cy="11291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3876640"/>
            <a:ext cx="1280160" cy="63135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927148"/>
            <a:ext cx="1280160" cy="530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5664" y="3489682"/>
            <a:ext cx="1280160" cy="386957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520639"/>
            <a:ext cx="1280160" cy="325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5664" y="3224922"/>
            <a:ext cx="1280160" cy="26476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246103"/>
            <a:ext cx="1280160" cy="22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93231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Arial"/>
              </a:defRPr>
            </a:pPr>
            <a:r>
              <a:t>129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0144" y="4935681"/>
            <a:ext cx="1280160" cy="91647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5009000"/>
            <a:ext cx="1280160" cy="76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0144" y="4467259"/>
            <a:ext cx="1280160" cy="46842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0144" y="4504733"/>
            <a:ext cx="1280160" cy="3934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4080302"/>
            <a:ext cx="1280160" cy="386957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4111258"/>
            <a:ext cx="1280160" cy="325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0144" y="3917372"/>
            <a:ext cx="1280160" cy="162929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362476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4624" y="5424470"/>
            <a:ext cx="1280160" cy="42768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64624" y="5458685"/>
            <a:ext cx="1280160" cy="3592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64624" y="5261540"/>
            <a:ext cx="1280160" cy="1629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4624" y="5159709"/>
            <a:ext cx="1280160" cy="101830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4624" y="4867101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1921486"/>
            <a:ext cx="822960" cy="42768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1955702"/>
            <a:ext cx="822960" cy="3592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F7F7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2349176"/>
            <a:ext cx="822960" cy="42768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2383391"/>
            <a:ext cx="822960" cy="3592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F7F7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58384" y="2776866"/>
            <a:ext cx="822960" cy="44805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58384" y="2812711"/>
            <a:ext cx="822960" cy="376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F7F7F"/>
                </a:solidFill>
                <a:latin typeface="Arial"/>
              </a:defRPr>
            </a:pPr>
            <a:r>
              <a:t>22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37360" y="5852160"/>
            <a:ext cx="9244584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755648" y="5943600"/>
            <a:ext cx="1426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Benchmark</a:t>
            </a:r>
            <a:br/>
            <a: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594360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Process</a:t>
            </a:r>
            <a:br/>
            <a:r>
              <a:t>standardization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94360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Strategic</a:t>
            </a:r>
            <a:br/>
            <a:r>
              <a:t>importance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85232" y="594360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System</a:t>
            </a:r>
            <a:br/>
            <a:r>
              <a:t>limitations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5943600"/>
            <a:ext cx="1426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Signed-off</a:t>
            </a:r>
            <a:br/>
            <a:r>
              <a:t>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5943600"/>
            <a:ext cx="1426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/>
              </a:defRPr>
            </a:pPr>
            <a:r>
              <a:t>Transferred</a:t>
            </a:r>
            <a:br/>
            <a:r>
              <a:t>to 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1472" y="5943600"/>
            <a:ext cx="1426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To be</a:t>
            </a:r>
            <a:br/>
            <a:r>
              <a:t>transferred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4469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04040"/>
                </a:solidFill>
                <a:latin typeface="Arial"/>
              </a:defRPr>
            </a:pPr>
            <a:r>
              <a:t>Accounting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38016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04040"/>
                </a:solidFill>
                <a:latin typeface="Arial"/>
              </a:defRPr>
            </a:pPr>
            <a:r>
              <a:t>Customer 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257569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04040"/>
                </a:solidFill>
                <a:latin typeface="Arial"/>
              </a:defRPr>
            </a:pPr>
            <a:r>
              <a:t>Procurement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197489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04040"/>
                </a:solidFill>
                <a:latin typeface="Arial"/>
              </a:defRPr>
            </a:pPr>
            <a:r>
              <a:t>Sales Support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108960" y="1921486.909090909"/>
            <a:ext cx="274320" cy="0.0"/>
          </a:xfrm>
          <a:prstGeom prst="line">
            <a:avLst/>
          </a:prstGeom>
          <a:ln w="9525">
            <a:solidFill>
              <a:srgbClr val="7F7F7F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06240" y="2349176.727272727"/>
            <a:ext cx="164592" cy="0.0"/>
          </a:xfrm>
          <a:prstGeom prst="line">
            <a:avLst/>
          </a:prstGeom>
          <a:ln w="9525">
            <a:solidFill>
              <a:srgbClr val="7F7F7F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193792" y="2776866.5454545454"/>
            <a:ext cx="164592" cy="0.0"/>
          </a:xfrm>
          <a:prstGeom prst="line">
            <a:avLst/>
          </a:prstGeom>
          <a:ln w="9525">
            <a:solidFill>
              <a:srgbClr val="7F7F7F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81344" y="3224922.545454546"/>
            <a:ext cx="274320" cy="0.0"/>
          </a:xfrm>
          <a:prstGeom prst="line">
            <a:avLst/>
          </a:prstGeom>
          <a:ln w="9525">
            <a:solidFill>
              <a:srgbClr val="7F7F7F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735824" y="3917372.727272727"/>
            <a:ext cx="274320" cy="0.0"/>
          </a:xfrm>
          <a:prstGeom prst="line">
            <a:avLst/>
          </a:prstGeom>
          <a:ln w="9525">
            <a:solidFill>
              <a:srgbClr val="7F7F7F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90304" y="5159709.818181818"/>
            <a:ext cx="274320" cy="0.0"/>
          </a:xfrm>
          <a:prstGeom prst="line">
            <a:avLst/>
          </a:prstGeom>
          <a:ln w="9525">
            <a:solidFill>
              <a:srgbClr val="7F7F7F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  <a:latin typeface="Arial"/>
              </a:defRPr>
            </a:pPr>
            <a:r>
              <a:t>Source: Internal HR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2060"/>
                </a:solidFill>
                <a:latin typeface="Arial"/>
              </a:defRPr>
            </a:pPr>
            <a:r>
              <a:t>Purchasing Manager's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F7F7F"/>
                </a:solidFill>
                <a:latin typeface="Arial"/>
              </a:defRPr>
            </a:pPr>
            <a:r>
              <a:t>% that agree with the following statements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23444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81360" y="1463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0AD47"/>
                </a:solidFill>
                <a:latin typeface="Arial"/>
              </a:defRPr>
            </a:pPr>
            <a:r>
              <a:t>▲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17627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0000"/>
                </a:solidFill>
                <a:latin typeface="Arial"/>
              </a:defRPr>
            </a:pPr>
            <a:r>
              <a:t>▼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2889504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0AD47"/>
                </a:solidFill>
                <a:latin typeface="Arial"/>
              </a:defRPr>
            </a:pPr>
            <a:r>
              <a:t>▲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3602736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0AD47"/>
                </a:solidFill>
                <a:latin typeface="Arial"/>
              </a:defRPr>
            </a:pPr>
            <a:r>
              <a:t>▲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431596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0000"/>
                </a:solidFill>
                <a:latin typeface="Arial"/>
              </a:defRPr>
            </a:pPr>
            <a:r>
              <a:t>▼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50292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0AD47"/>
                </a:solidFill>
                <a:latin typeface="Arial"/>
              </a:defRPr>
            </a:pPr>
            <a:r>
              <a:t>▲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  <a:latin typeface="Arial"/>
              </a:defRPr>
            </a:pPr>
            <a:r>
              <a:t>Source: Annual Procurement Survey 2024  |  n = 245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2060"/>
                </a:solidFill>
                <a:latin typeface="Arial"/>
              </a:defRPr>
            </a:pPr>
            <a:r>
              <a:t>Gross Margin Analysis by Promotion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F7F7F"/>
                </a:solidFill>
                <a:latin typeface="Arial"/>
              </a:defRPr>
            </a:pPr>
            <a:r>
              <a:t>GM cents per unit vs. units sold (indexed, base = 100)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3444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  <a:latin typeface="Arial"/>
              </a:defRPr>
            </a:pPr>
            <a:r>
              <a:t>Source: Trade &amp; Promotions dataset Q1–Q4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2060"/>
                </a:solidFill>
                <a:latin typeface="Arial"/>
              </a:defRPr>
            </a:pPr>
            <a:r>
              <a:t>Online Revenue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F7F7F"/>
                </a:solidFill>
                <a:latin typeface="Arial"/>
              </a:defRPr>
            </a:pPr>
            <a:r>
              <a:t>Share of total revenue, 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234440"/>
          <a:ext cx="374903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60520" y="1234440"/>
          <a:ext cx="3749039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955279" y="1234440"/>
          <a:ext cx="3749039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035040"/>
            <a:ext cx="1737360" cy="32004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Electronics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6035040"/>
            <a:ext cx="1737360" cy="320040"/>
          </a:xfrm>
          <a:prstGeom prst="rect">
            <a:avLst/>
          </a:prstGeom>
          <a:solidFill>
            <a:srgbClr val="1F5FA6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Fashion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6035040"/>
            <a:ext cx="1737360" cy="320040"/>
          </a:xfrm>
          <a:prstGeom prst="rect">
            <a:avLst/>
          </a:prstGeom>
          <a:solidFill>
            <a:srgbClr val="9DC3E6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</a:defRPr>
            </a:pPr>
            <a:r>
              <a:t>Home &amp;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035040"/>
            <a:ext cx="1737360" cy="320040"/>
          </a:xfrm>
          <a:prstGeom prst="rect">
            <a:avLst/>
          </a:prstGeom>
          <a:solidFill>
            <a:srgbClr val="BDD7EE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</a:defRPr>
            </a:pPr>
            <a:r>
              <a:t>Sports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035040"/>
            <a:ext cx="1737360" cy="320040"/>
          </a:xfrm>
          <a:prstGeom prst="rect">
            <a:avLst/>
          </a:prstGeom>
          <a:solidFill>
            <a:srgbClr val="7F7F7F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Beauty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035040"/>
            <a:ext cx="1737360" cy="320040"/>
          </a:xfrm>
          <a:prstGeom prst="rect">
            <a:avLst/>
          </a:prstGeom>
          <a:solidFill>
            <a:srgbClr val="D9D9D9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</a:defRPr>
            </a:pPr>
            <a:r>
              <a:t>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  <a:latin typeface="Arial"/>
              </a:defRPr>
            </a:pPr>
            <a:r>
              <a:t>Source: E-commerce Analytics Platform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2060"/>
                </a:solidFill>
                <a:latin typeface="Arial"/>
              </a:defRPr>
            </a:pPr>
            <a:r>
              <a:t>Daily Shipment Volume – Saturdays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F7F7F"/>
                </a:solidFill>
                <a:latin typeface="Arial"/>
              </a:defRPr>
            </a:pPr>
            <a:r>
              <a:t>Units (thousands)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234440"/>
          <a:ext cx="11430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  <a:latin typeface="Arial"/>
              </a:defRPr>
            </a:pPr>
            <a:r>
              <a:t>Source: Logistics Operations Data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2060"/>
                </a:solidFill>
                <a:latin typeface="Arial"/>
              </a:defRPr>
            </a:pPr>
            <a:r>
              <a:t>Market Landscape by Region &amp; Product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F7F7F"/>
                </a:solidFill>
                <a:latin typeface="Arial"/>
              </a:defRPr>
            </a:pPr>
            <a:r>
              <a:t>Column width = market size ($M)  |  Height = share within region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2767584" cy="182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07592"/>
            <a:ext cx="2712720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2767584" cy="1371600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36392"/>
            <a:ext cx="2712720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80560"/>
            <a:ext cx="2767584" cy="9144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07992"/>
            <a:ext cx="2712720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94960"/>
            <a:ext cx="2767584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2392"/>
            <a:ext cx="271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280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2060"/>
                </a:solidFill>
                <a:latin typeface="Arial"/>
              </a:defRPr>
            </a:pPr>
            <a:r>
              <a:t>Europe</a:t>
            </a:r>
            <a:br/>
            <a:r>
              <a:t>$320M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7120" y="1280160"/>
            <a:ext cx="4169664" cy="1600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2840" y="1307592"/>
            <a:ext cx="4114800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7120" y="2880360"/>
            <a:ext cx="4169664" cy="1371600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2840" y="2907792"/>
            <a:ext cx="4114800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7120" y="4251960"/>
            <a:ext cx="4169664" cy="11430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2840" y="4279392"/>
            <a:ext cx="4114800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27120" y="5394960"/>
            <a:ext cx="4169664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2840" y="5422392"/>
            <a:ext cx="4114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7120" y="5943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2060"/>
                </a:solidFill>
                <a:latin typeface="Arial"/>
              </a:defRPr>
            </a:pPr>
            <a:r>
              <a:t>North America</a:t>
            </a:r>
            <a:br/>
            <a:r>
              <a:t>$480M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33360" y="1280160"/>
            <a:ext cx="2241804" cy="1143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9080" y="1307592"/>
            <a:ext cx="2186940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33360" y="2423160"/>
            <a:ext cx="2241804" cy="1600200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9080" y="2450592"/>
            <a:ext cx="2186940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33360" y="4023360"/>
            <a:ext cx="2241804" cy="13716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9080" y="4050792"/>
            <a:ext cx="2186940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3360" y="5394960"/>
            <a:ext cx="2241804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9080" y="5422392"/>
            <a:ext cx="21869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3360" y="5943600"/>
            <a:ext cx="2278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2060"/>
                </a:solidFill>
                <a:latin typeface="Arial"/>
              </a:defRPr>
            </a:pPr>
            <a:r>
              <a:t>Asia Pacific</a:t>
            </a:r>
            <a:br/>
            <a:r>
              <a:t>$260M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11740" y="1280160"/>
            <a:ext cx="1190244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7460" y="1307592"/>
            <a:ext cx="1135380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11740" y="2194560"/>
            <a:ext cx="1190244" cy="1371600"/>
          </a:xfrm>
          <a:prstGeom prst="rect">
            <a:avLst/>
          </a:prstGeom>
          <a:solidFill>
            <a:srgbClr val="1F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7460" y="2221992"/>
            <a:ext cx="1135380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11740" y="3566160"/>
            <a:ext cx="1190244" cy="16002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57460" y="3593592"/>
            <a:ext cx="1135380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11740" y="5166360"/>
            <a:ext cx="1190244" cy="685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7460" y="5193792"/>
            <a:ext cx="113538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11740" y="5943600"/>
            <a:ext cx="12268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2060"/>
                </a:solidFill>
                <a:latin typeface="Arial"/>
              </a:defRPr>
            </a:pPr>
            <a:r>
              <a:t>Rest of World</a:t>
            </a:r>
            <a:br/>
            <a:r>
              <a:t>$140M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1280160"/>
            <a:ext cx="1371600" cy="320040"/>
          </a:xfrm>
          <a:prstGeom prst="rect">
            <a:avLst/>
          </a:prstGeom>
          <a:solidFill>
            <a:srgbClr val="002060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Premium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1645920"/>
            <a:ext cx="1371600" cy="320040"/>
          </a:xfrm>
          <a:prstGeom prst="rect">
            <a:avLst/>
          </a:prstGeom>
          <a:solidFill>
            <a:srgbClr val="1F5FA6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Mid-Range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2011680"/>
            <a:ext cx="1371600" cy="320040"/>
          </a:xfrm>
          <a:prstGeom prst="rect">
            <a:avLst/>
          </a:prstGeom>
          <a:solidFill>
            <a:srgbClr val="9DC3E6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</a:defRPr>
            </a:pPr>
            <a:r>
              <a:t>Value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2377440"/>
            <a:ext cx="1371600" cy="320040"/>
          </a:xfrm>
          <a:prstGeom prst="rect">
            <a:avLst/>
          </a:prstGeom>
          <a:solidFill>
            <a:srgbClr val="D9D9D9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00000"/>
                </a:solidFill>
                <a:latin typeface="Arial"/>
              </a:defRPr>
            </a:pPr>
            <a:r>
              <a:t>Other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  <a:latin typeface="Arial"/>
              </a:defRPr>
            </a:pPr>
            <a:r>
              <a:t>Source: Market Intelligence Report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