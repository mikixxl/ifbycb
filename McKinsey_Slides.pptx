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Sales Support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 scope</c:v>
                </c:pt>
                <c:pt idx="1">
                  <c:v>Process standardization</c:v>
                </c:pt>
                <c:pt idx="2">
                  <c:v>Strategic importance</c:v>
                </c:pt>
                <c:pt idx="3">
                  <c:v>System limitations</c:v>
                </c:pt>
                <c:pt idx="4">
                  <c:v>Signed-off scope</c:v>
                </c:pt>
                <c:pt idx="5">
                  <c:v>Transferred to date</c:v>
                </c:pt>
                <c:pt idx="6">
                  <c:v>To be transferred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450</c:v>
                </c:pt>
                <c:pt idx="1">
                  <c:v>380</c:v>
                </c:pt>
                <c:pt idx="2">
                  <c:v>320</c:v>
                </c:pt>
                <c:pt idx="3">
                  <c:v>280</c:v>
                </c:pt>
                <c:pt idx="4">
                  <c:v>250</c:v>
                </c:pt>
                <c:pt idx="5">
                  <c:v>180</c:v>
                </c:pt>
                <c:pt idx="6">
                  <c:v>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Procurement</c:v>
                </c:pt>
              </c:strCache>
            </c:strRef>
          </c:tx>
          <c:spPr>
            <a:solidFill>
              <a:srgbClr val="1F5FA6"/>
            </a:solidFill>
            <a:ln>
              <a:solidFill>
                <a:srgbClr val="1F5FA6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 scope</c:v>
                </c:pt>
                <c:pt idx="1">
                  <c:v>Process standardization</c:v>
                </c:pt>
                <c:pt idx="2">
                  <c:v>Strategic importance</c:v>
                </c:pt>
                <c:pt idx="3">
                  <c:v>System limitations</c:v>
                </c:pt>
                <c:pt idx="4">
                  <c:v>Signed-off scope</c:v>
                </c:pt>
                <c:pt idx="5">
                  <c:v>Transferred to date</c:v>
                </c:pt>
                <c:pt idx="6">
                  <c:v>To be transferred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120</c:v>
                </c:pt>
                <c:pt idx="1">
                  <c:v>90</c:v>
                </c:pt>
                <c:pt idx="2">
                  <c:v>80</c:v>
                </c:pt>
                <c:pt idx="3">
                  <c:v>70</c:v>
                </c:pt>
                <c:pt idx="4">
                  <c:v>60</c:v>
                </c:pt>
                <c:pt idx="5">
                  <c:v>45</c:v>
                </c:pt>
                <c:pt idx="6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Customer Service</c:v>
                </c:pt>
              </c:strCache>
            </c:strRef>
          </c:tx>
          <c:spPr>
            <a:solidFill>
              <a:srgbClr val="9DC3E6"/>
            </a:solidFill>
            <a:ln>
              <a:solidFill>
                <a:srgbClr val="9DC3E6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 scope</c:v>
                </c:pt>
                <c:pt idx="1">
                  <c:v>Process standardization</c:v>
                </c:pt>
                <c:pt idx="2">
                  <c:v>Strategic importance</c:v>
                </c:pt>
                <c:pt idx="3">
                  <c:v>System limitations</c:v>
                </c:pt>
                <c:pt idx="4">
                  <c:v>Signed-off scope</c:v>
                </c:pt>
                <c:pt idx="5">
                  <c:v>Transferred to date</c:v>
                </c:pt>
                <c:pt idx="6">
                  <c:v>To be transferred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180</c:v>
                </c:pt>
                <c:pt idx="1">
                  <c:v>150</c:v>
                </c:pt>
                <c:pt idx="2">
                  <c:v>130</c:v>
                </c:pt>
                <c:pt idx="3">
                  <c:v>110</c:v>
                </c:pt>
                <c:pt idx="4">
                  <c:v>100</c:v>
                </c:pt>
                <c:pt idx="5">
                  <c:v>70</c:v>
                </c:pt>
                <c:pt idx="6">
                  <c:v>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Accounting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D9D9D9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Benchmark scope</c:v>
                </c:pt>
                <c:pt idx="1">
                  <c:v>Process standardization</c:v>
                </c:pt>
                <c:pt idx="2">
                  <c:v>Strategic importance</c:v>
                </c:pt>
                <c:pt idx="3">
                  <c:v>System limitations</c:v>
                </c:pt>
                <c:pt idx="4">
                  <c:v>Signed-off scope</c:v>
                </c:pt>
                <c:pt idx="5">
                  <c:v>Transferred to date</c:v>
                </c:pt>
                <c:pt idx="6">
                  <c:v>To be transferred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250</c:v>
                </c:pt>
                <c:pt idx="1">
                  <c:v>200</c:v>
                </c:pt>
                <c:pt idx="2">
                  <c:v>170</c:v>
                </c:pt>
                <c:pt idx="3">
                  <c:v>150</c:v>
                </c:pt>
                <c:pt idx="4">
                  <c:v>130</c:v>
                </c:pt>
                <c:pt idx="5">
                  <c:v>90</c:v>
                </c:pt>
                <c:pt idx="6">
                  <c:v>60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Strongly Disagree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-0.15</c:v>
                </c:pt>
                <c:pt idx="1">
                  <c:v>-0.1</c:v>
                </c:pt>
                <c:pt idx="2">
                  <c:v>-0.22</c:v>
                </c:pt>
                <c:pt idx="3">
                  <c:v>-0.05</c:v>
                </c:pt>
                <c:pt idx="4">
                  <c:v>-0.26</c:v>
                </c:pt>
                <c:pt idx="5">
                  <c:v>-0.12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Disagree</c:v>
                </c:pt>
              </c:strCache>
            </c:strRef>
          </c:tx>
          <c:spPr>
            <a:solidFill>
              <a:srgbClr val="FF7C80"/>
            </a:solidFill>
            <a:ln>
              <a:solidFill>
                <a:srgbClr val="FF7C8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-0.22</c:v>
                </c:pt>
                <c:pt idx="1">
                  <c:v>-0.18</c:v>
                </c:pt>
                <c:pt idx="2">
                  <c:v>-0.28</c:v>
                </c:pt>
                <c:pt idx="3">
                  <c:v>-0.12</c:v>
                </c:pt>
                <c:pt idx="4">
                  <c:v>-0.19</c:v>
                </c:pt>
                <c:pt idx="5">
                  <c:v>-0.15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Agree</c:v>
                </c:pt>
              </c:strCache>
            </c:strRef>
          </c:tx>
          <c:spPr>
            <a:solidFill>
              <a:srgbClr val="9DC3E6"/>
            </a:solidFill>
            <a:ln>
              <a:solidFill>
                <a:srgbClr val="9DC3E6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</c:v>
                </c:pt>
                <c:pt idx="1">
                  <c:v>0.42</c:v>
                </c:pt>
                <c:pt idx="2">
                  <c:v>0.25</c:v>
                </c:pt>
                <c:pt idx="3">
                  <c:v>0.5</c:v>
                </c:pt>
                <c:pt idx="4">
                  <c:v>0.28</c:v>
                </c:pt>
                <c:pt idx="5">
                  <c:v>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Strongly Agree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0.25</c:v>
                </c:pt>
                <c:pt idx="1">
                  <c:v>0.3</c:v>
                </c:pt>
                <c:pt idx="2">
                  <c:v>0.25</c:v>
                </c:pt>
                <c:pt idx="3">
                  <c:v>0.33</c:v>
                </c:pt>
                <c:pt idx="4">
                  <c:v>0.27</c:v>
                </c:pt>
                <c:pt idx="5">
                  <c:v>0.33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30% Off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xVal>
            <c:numRef>
              <c:f>Sheet1!$A$2:$A$8</c:f>
              <c:numCache>
                <c:formatCode>General</c:formatCode>
                <c:ptCount val="7"/>
                <c:pt idx="0">
                  <c:v>100</c:v>
                </c:pt>
                <c:pt idx="1">
                  <c:v>200</c:v>
                </c:pt>
                <c:pt idx="2">
                  <c:v>320</c:v>
                </c:pt>
                <c:pt idx="3">
                  <c:v>480</c:v>
                </c:pt>
                <c:pt idx="4">
                  <c:v>650</c:v>
                </c:pt>
                <c:pt idx="5">
                  <c:v>820</c:v>
                </c:pt>
                <c:pt idx="6">
                  <c:v>950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42</c:v>
                </c:pt>
                <c:pt idx="2">
                  <c:v>39</c:v>
                </c:pt>
                <c:pt idx="3">
                  <c:v>35</c:v>
                </c:pt>
                <c:pt idx="4">
                  <c:v>31</c:v>
                </c:pt>
                <c:pt idx="5">
                  <c:v>28</c:v>
                </c:pt>
                <c:pt idx="6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Buy 2 Get 1 Free</c:v>
                </c:pt>
              </c:strCache>
            </c:strRef>
          </c:tx>
          <c:spPr>
            <a:solidFill>
              <a:srgbClr val="1F5FA6"/>
            </a:solidFill>
            <a:ln>
              <a:solidFill>
                <a:srgbClr val="1F5FA6"/>
              </a:solidFill>
            </a:ln>
          </c:spPr>
          <c:xVal>
            <c:numRef>
              <c:f>Sheet1!$A$11:$A$17</c:f>
              <c:numCache>
                <c:formatCode>General</c:formatCode>
                <c:ptCount val="7"/>
                <c:pt idx="0">
                  <c:v>150</c:v>
                </c:pt>
                <c:pt idx="1">
                  <c:v>280</c:v>
                </c:pt>
                <c:pt idx="2">
                  <c:v>410</c:v>
                </c:pt>
                <c:pt idx="3">
                  <c:v>560</c:v>
                </c:pt>
                <c:pt idx="4">
                  <c:v>710</c:v>
                </c:pt>
                <c:pt idx="5">
                  <c:v>860</c:v>
                </c:pt>
                <c:pt idx="6">
                  <c:v>980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40</c:v>
                </c:pt>
                <c:pt idx="1">
                  <c:v>37</c:v>
                </c:pt>
                <c:pt idx="2">
                  <c:v>33</c:v>
                </c:pt>
                <c:pt idx="3">
                  <c:v>30</c:v>
                </c:pt>
                <c:pt idx="4">
                  <c:v>27</c:v>
                </c:pt>
                <c:pt idx="5">
                  <c:v>24</c:v>
                </c:pt>
                <c:pt idx="6">
                  <c:v>22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Target GM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xVal>
            <c:numRef>
              <c:f>Sheet1!$A$20:$A$21</c:f>
              <c:numCache>
                <c:formatCode>General</c:formatCode>
                <c:ptCount val="2"/>
                <c:pt idx="0">
                  <c:v>80</c:v>
                </c:pt>
                <c:pt idx="1">
                  <c:v>1000</c:v>
                </c:pt>
              </c:numCache>
            </c:numRef>
          </c:xVal>
          <c:yVal>
            <c:numRef>
              <c:f>Sheet1!$B$20:$B$21</c:f>
              <c:numCache>
                <c:formatCode>General</c:formatCode>
                <c:ptCount val="2"/>
                <c:pt idx="0">
                  <c:v>30</c:v>
                </c:pt>
                <c:pt idx="1">
                  <c:v>30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2019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</c:v>
                </c:pt>
                <c:pt idx="1">
                  <c:v>0.2</c:v>
                </c:pt>
                <c:pt idx="2">
                  <c:v>0.18</c:v>
                </c:pt>
                <c:pt idx="3">
                  <c:v>0.12</c:v>
                </c:pt>
                <c:pt idx="4">
                  <c:v>0.09</c:v>
                </c:pt>
                <c:pt idx="5">
                  <c:v>0.06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2021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0.38</c:v>
                </c:pt>
                <c:pt idx="1">
                  <c:v>0.22</c:v>
                </c:pt>
                <c:pt idx="2">
                  <c:v>0.16</c:v>
                </c:pt>
                <c:pt idx="3">
                  <c:v>0.11</c:v>
                </c:pt>
                <c:pt idx="4">
                  <c:v>0.08</c:v>
                </c:pt>
                <c:pt idx="5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2024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0.42</c:v>
                </c:pt>
                <c:pt idx="1">
                  <c:v>0.19</c:v>
                </c:pt>
                <c:pt idx="2">
                  <c:v>0.15</c:v>
                </c:pt>
                <c:pt idx="3">
                  <c:v>0.1</c:v>
                </c:pt>
                <c:pt idx="4">
                  <c:v>0.09</c:v>
                </c:pt>
                <c:pt idx="5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Min (hidden)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85</c:v>
                </c:pt>
                <c:pt idx="2">
                  <c:v>78</c:v>
                </c:pt>
                <c:pt idx="3">
                  <c:v>90</c:v>
                </c:pt>
                <c:pt idx="4">
                  <c:v>88</c:v>
                </c:pt>
                <c:pt idx="5">
                  <c:v>82</c:v>
                </c:pt>
                <c:pt idx="6">
                  <c:v>95</c:v>
                </c:pt>
                <c:pt idx="7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3-Year Range</c:v>
                </c:pt>
              </c:strCache>
            </c:strRef>
          </c:tx>
          <c:spPr>
            <a:solidFill>
              <a:srgbClr val="BDD7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40</c:v>
                </c:pt>
                <c:pt idx="1">
                  <c:v>40</c:v>
                </c:pt>
                <c:pt idx="2">
                  <c:v>37</c:v>
                </c:pt>
                <c:pt idx="3">
                  <c:v>40</c:v>
                </c:pt>
                <c:pt idx="4">
                  <c:v>40</c:v>
                </c:pt>
                <c:pt idx="5">
                  <c:v>38</c:v>
                </c:pt>
                <c:pt idx="6">
                  <c:v>45</c:v>
                </c:pt>
                <c:pt idx="7">
                  <c:v>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3-Year Avg</c:v>
                </c:pt>
              </c:strCache>
            </c:strRef>
          </c:tx>
          <c:spPr>
            <a:solidFill>
              <a:srgbClr val="7F7F7F"/>
            </a:solidFill>
            <a:ln>
              <a:solidFill>
                <a:srgbClr val="7F7F7F"/>
              </a:solidFill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100</c:v>
                </c:pt>
                <c:pt idx="1">
                  <c:v>105</c:v>
                </c:pt>
                <c:pt idx="2">
                  <c:v>97</c:v>
                </c:pt>
                <c:pt idx="3">
                  <c:v>110</c:v>
                </c:pt>
                <c:pt idx="4">
                  <c:v>108</c:v>
                </c:pt>
                <c:pt idx="5">
                  <c:v>101</c:v>
                </c:pt>
                <c:pt idx="6">
                  <c:v>118</c:v>
                </c:pt>
                <c:pt idx="7">
                  <c:v>113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 b="1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95</c:v>
                </c:pt>
                <c:pt idx="1">
                  <c:v>108</c:v>
                </c:pt>
                <c:pt idx="2">
                  <c:v>102</c:v>
                </c:pt>
                <c:pt idx="3">
                  <c:v>115</c:v>
                </c:pt>
                <c:pt idx="4">
                  <c:v>112</c:v>
                </c:pt>
                <c:pt idx="5">
                  <c:v>98</c:v>
                </c:pt>
                <c:pt idx="6">
                  <c:v>125</c:v>
                </c:pt>
                <c:pt idx="7">
                  <c:v>120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110</c:v>
                </c:pt>
                <c:pt idx="1">
                  <c:v>110</c:v>
                </c:pt>
                <c:pt idx="2">
                  <c:v>110</c:v>
                </c:pt>
                <c:pt idx="3">
                  <c:v>110</c:v>
                </c:pt>
                <c:pt idx="4">
                  <c:v>110</c:v>
                </c:pt>
                <c:pt idx="5">
                  <c:v>110</c:v>
                </c:pt>
                <c:pt idx="6">
                  <c:v>110</c:v>
                </c:pt>
                <c:pt idx="7">
                  <c:v>110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Global Business Services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~FTE involved in scope definition process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Internal HR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Purchasing Manager's Sentiment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% that agree with the following statements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81360" y="14630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76272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0000"/>
                </a:solidFill>
                <a:latin typeface="Arial"/>
              </a:defRPr>
            </a:pPr>
            <a:r>
              <a:t>▼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2889504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3602736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43159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0000"/>
                </a:solidFill>
                <a:latin typeface="Arial"/>
              </a:defRPr>
            </a:pPr>
            <a:r>
              <a:t>▼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502920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Annual Procurement Survey 2024  |  n = 245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Gross Margin Analysis by Promotion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GM cents per unit vs. units sold (indexed, base = 100)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23444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Trade &amp; Promotions dataset Q1–Q4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Online Revenue by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Share of total revenue, %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60520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955279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35040"/>
            <a:ext cx="1737360" cy="320040"/>
          </a:xfrm>
          <a:prstGeom prst="rect">
            <a:avLst/>
          </a:prstGeom>
          <a:solidFill>
            <a:srgbClr val="002060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Electronics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035040"/>
            <a:ext cx="1737360" cy="320040"/>
          </a:xfrm>
          <a:prstGeom prst="rect">
            <a:avLst/>
          </a:prstGeom>
          <a:solidFill>
            <a:srgbClr val="1F5FA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Fashion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6035040"/>
            <a:ext cx="1737360" cy="320040"/>
          </a:xfrm>
          <a:prstGeom prst="rect">
            <a:avLst/>
          </a:prstGeom>
          <a:solidFill>
            <a:srgbClr val="9DC3E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Home &amp; Garden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6035040"/>
            <a:ext cx="1737360" cy="320040"/>
          </a:xfrm>
          <a:prstGeom prst="rect">
            <a:avLst/>
          </a:prstGeom>
          <a:solidFill>
            <a:srgbClr val="BDD7EE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Sports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035040"/>
            <a:ext cx="1737360" cy="320040"/>
          </a:xfrm>
          <a:prstGeom prst="rect">
            <a:avLst/>
          </a:prstGeom>
          <a:solidFill>
            <a:srgbClr val="7F7F7F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Beauty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035040"/>
            <a:ext cx="1737360" cy="320040"/>
          </a:xfrm>
          <a:prstGeom prst="rect">
            <a:avLst/>
          </a:prstGeom>
          <a:solidFill>
            <a:srgbClr val="D9D9D9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E-commerce Analytics Platform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Daily Shipment Volume – Saturdays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Units (thousands)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Logistics Operations Data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