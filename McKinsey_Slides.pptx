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Strongly Disagree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-0.15</c:v>
                </c:pt>
                <c:pt idx="1">
                  <c:v>-0.1</c:v>
                </c:pt>
                <c:pt idx="2">
                  <c:v>-0.22</c:v>
                </c:pt>
                <c:pt idx="3">
                  <c:v>-0.05</c:v>
                </c:pt>
                <c:pt idx="4">
                  <c:v>-0.26</c:v>
                </c:pt>
                <c:pt idx="5">
                  <c:v>-0.12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Disagree</c:v>
                </c:pt>
              </c:strCache>
            </c:strRef>
          </c:tx>
          <c:spPr>
            <a:solidFill>
              <a:srgbClr val="FF7C80"/>
            </a:solidFill>
            <a:ln>
              <a:solidFill>
                <a:srgbClr val="FF7C8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-0.22</c:v>
                </c:pt>
                <c:pt idx="1">
                  <c:v>-0.18</c:v>
                </c:pt>
                <c:pt idx="2">
                  <c:v>-0.28</c:v>
                </c:pt>
                <c:pt idx="3">
                  <c:v>-0.12</c:v>
                </c:pt>
                <c:pt idx="4">
                  <c:v>-0.19</c:v>
                </c:pt>
                <c:pt idx="5">
                  <c:v>-0.15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Agree</c:v>
                </c:pt>
              </c:strCache>
            </c:strRef>
          </c:tx>
          <c:spPr>
            <a:solidFill>
              <a:srgbClr val="9DC3E6"/>
            </a:solidFill>
            <a:ln>
              <a:solidFill>
                <a:srgbClr val="9DC3E6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0.38</c:v>
                </c:pt>
                <c:pt idx="1">
                  <c:v>0.42</c:v>
                </c:pt>
                <c:pt idx="2">
                  <c:v>0.25</c:v>
                </c:pt>
                <c:pt idx="3">
                  <c:v>0.5</c:v>
                </c:pt>
                <c:pt idx="4">
                  <c:v>0.28</c:v>
                </c:pt>
                <c:pt idx="5">
                  <c:v>0.4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Strongly Agree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Supply chain is well-optimised</c:v>
                </c:pt>
                <c:pt idx="1">
                  <c:v>Supplier relationships are strong</c:v>
                </c:pt>
                <c:pt idx="2">
                  <c:v>Procurement process is efficient</c:v>
                </c:pt>
                <c:pt idx="3">
                  <c:v>Cost-savings targets are achievable</c:v>
                </c:pt>
                <c:pt idx="4">
                  <c:v>Technology tools are adequate</c:v>
                </c:pt>
                <c:pt idx="5">
                  <c:v>Sustainability goals are clear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0.25</c:v>
                </c:pt>
                <c:pt idx="1">
                  <c:v>0.3</c:v>
                </c:pt>
                <c:pt idx="2">
                  <c:v>0.25</c:v>
                </c:pt>
                <c:pt idx="3">
                  <c:v>0.33</c:v>
                </c:pt>
                <c:pt idx="4">
                  <c:v>0.27</c:v>
                </c:pt>
                <c:pt idx="5">
                  <c:v>0.33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30% Off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xVal>
            <c:numRef>
              <c:f>Sheet1!$A$2:$A$8</c:f>
              <c:numCache>
                <c:formatCode>General</c:formatCode>
                <c:ptCount val="7"/>
                <c:pt idx="0">
                  <c:v>100</c:v>
                </c:pt>
                <c:pt idx="1">
                  <c:v>200</c:v>
                </c:pt>
                <c:pt idx="2">
                  <c:v>320</c:v>
                </c:pt>
                <c:pt idx="3">
                  <c:v>480</c:v>
                </c:pt>
                <c:pt idx="4">
                  <c:v>650</c:v>
                </c:pt>
                <c:pt idx="5">
                  <c:v>820</c:v>
                </c:pt>
                <c:pt idx="6">
                  <c:v>950</c:v>
                </c:pt>
              </c:numCache>
            </c:numRef>
          </c:xVal>
          <c:yVal>
            <c:numRef>
              <c:f>Sheet1!$B$2:$B$8</c:f>
              <c:numCache>
                <c:formatCode>General</c:formatCode>
                <c:ptCount val="7"/>
                <c:pt idx="0">
                  <c:v>45</c:v>
                </c:pt>
                <c:pt idx="1">
                  <c:v>42</c:v>
                </c:pt>
                <c:pt idx="2">
                  <c:v>39</c:v>
                </c:pt>
                <c:pt idx="3">
                  <c:v>35</c:v>
                </c:pt>
                <c:pt idx="4">
                  <c:v>31</c:v>
                </c:pt>
                <c:pt idx="5">
                  <c:v>28</c:v>
                </c:pt>
                <c:pt idx="6">
                  <c:v>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Sheet1!$B$10</c:f>
              <c:strCache>
                <c:ptCount val="1"/>
                <c:pt idx="0">
                  <c:v>Buy 2 Get 1 Free</c:v>
                </c:pt>
              </c:strCache>
            </c:strRef>
          </c:tx>
          <c:spPr>
            <a:solidFill>
              <a:srgbClr val="1F5FA6"/>
            </a:solidFill>
            <a:ln>
              <a:solidFill>
                <a:srgbClr val="1F5FA6"/>
              </a:solidFill>
            </a:ln>
          </c:spPr>
          <c:xVal>
            <c:numRef>
              <c:f>Sheet1!$A$11:$A$17</c:f>
              <c:numCache>
                <c:formatCode>General</c:formatCode>
                <c:ptCount val="7"/>
                <c:pt idx="0">
                  <c:v>150</c:v>
                </c:pt>
                <c:pt idx="1">
                  <c:v>280</c:v>
                </c:pt>
                <c:pt idx="2">
                  <c:v>410</c:v>
                </c:pt>
                <c:pt idx="3">
                  <c:v>560</c:v>
                </c:pt>
                <c:pt idx="4">
                  <c:v>710</c:v>
                </c:pt>
                <c:pt idx="5">
                  <c:v>860</c:v>
                </c:pt>
                <c:pt idx="6">
                  <c:v>980</c:v>
                </c:pt>
              </c:numCache>
            </c:numRef>
          </c:xVal>
          <c:yVal>
            <c:numRef>
              <c:f>Sheet1!$B$11:$B$17</c:f>
              <c:numCache>
                <c:formatCode>General</c:formatCode>
                <c:ptCount val="7"/>
                <c:pt idx="0">
                  <c:v>40</c:v>
                </c:pt>
                <c:pt idx="1">
                  <c:v>37</c:v>
                </c:pt>
                <c:pt idx="2">
                  <c:v>33</c:v>
                </c:pt>
                <c:pt idx="3">
                  <c:v>30</c:v>
                </c:pt>
                <c:pt idx="4">
                  <c:v>27</c:v>
                </c:pt>
                <c:pt idx="5">
                  <c:v>24</c:v>
                </c:pt>
                <c:pt idx="6">
                  <c:v>22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Sheet1!$B$19</c:f>
              <c:strCache>
                <c:ptCount val="1"/>
                <c:pt idx="0">
                  <c:v>Target GM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xVal>
            <c:numRef>
              <c:f>Sheet1!$A$20:$A$21</c:f>
              <c:numCache>
                <c:formatCode>General</c:formatCode>
                <c:ptCount val="2"/>
                <c:pt idx="0">
                  <c:v>80</c:v>
                </c:pt>
                <c:pt idx="1">
                  <c:v>1000</c:v>
                </c:pt>
              </c:numCache>
            </c:numRef>
          </c:xVal>
          <c:yVal>
            <c:numRef>
              <c:f>Sheet1!$B$20:$B$21</c:f>
              <c:numCache>
                <c:formatCode>General</c:formatCode>
                <c:ptCount val="2"/>
                <c:pt idx="0">
                  <c:v>30</c:v>
                </c:pt>
                <c:pt idx="1">
                  <c:v>30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2019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0.35</c:v>
                </c:pt>
                <c:pt idx="1">
                  <c:v>0.2</c:v>
                </c:pt>
                <c:pt idx="2">
                  <c:v>0.18</c:v>
                </c:pt>
                <c:pt idx="3">
                  <c:v>0.12</c:v>
                </c:pt>
                <c:pt idx="4">
                  <c:v>0.09</c:v>
                </c:pt>
                <c:pt idx="5">
                  <c:v>0.06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2021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0.38</c:v>
                </c:pt>
                <c:pt idx="1">
                  <c:v>0.22</c:v>
                </c:pt>
                <c:pt idx="2">
                  <c:v>0.16</c:v>
                </c:pt>
                <c:pt idx="3">
                  <c:v>0.11</c:v>
                </c:pt>
                <c:pt idx="4">
                  <c:v>0.08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800" b="1">
                <a:solidFill>
                  <a:srgbClr val="002060"/>
                </a:solidFill>
                <a:latin typeface="Arial"/>
              </a:defRPr>
            </a:pPr>
            <a:r>
              <a:t>2024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dPt>
            <c:idx val="0"/>
            <c:spPr>
              <a:solidFill>
                <a:srgbClr val="002060"/>
              </a:solidFill>
            </c:spPr>
          </c:dPt>
          <c:dPt>
            <c:idx val="1"/>
            <c:spPr>
              <a:solidFill>
                <a:srgbClr val="1F5FA6"/>
              </a:solidFill>
            </c:spPr>
          </c:dPt>
          <c:dPt>
            <c:idx val="2"/>
            <c:spPr>
              <a:solidFill>
                <a:srgbClr val="9DC3E6"/>
              </a:solidFill>
            </c:spPr>
          </c:dPt>
          <c:dPt>
            <c:idx val="3"/>
            <c:spPr>
              <a:solidFill>
                <a:srgbClr val="BDD7EE"/>
              </a:solidFill>
            </c:spPr>
          </c:dPt>
          <c:dPt>
            <c:idx val="4"/>
            <c:spPr>
              <a:solidFill>
                <a:srgbClr val="7F7F7F"/>
              </a:solidFill>
            </c:spPr>
          </c:dPt>
          <c:dPt>
            <c:idx val="5"/>
            <c:spPr>
              <a:solidFill>
                <a:srgbClr val="D9D9D9"/>
              </a:solidFill>
            </c:spPr>
          </c:dPt>
          <c:cat>
            <c:strRef>
              <c:f>Sheet1!$A$2:$A$7</c:f>
              <c:strCache>
                <c:ptCount val="6"/>
                <c:pt idx="0">
                  <c:v>Electronics</c:v>
                </c:pt>
                <c:pt idx="1">
                  <c:v>Fashion</c:v>
                </c:pt>
                <c:pt idx="2">
                  <c:v>Home &amp; Garden</c:v>
                </c:pt>
                <c:pt idx="3">
                  <c:v>Sports</c:v>
                </c:pt>
                <c:pt idx="4">
                  <c:v>Beauty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0.42</c:v>
                </c:pt>
                <c:pt idx="1">
                  <c:v>0.19</c:v>
                </c:pt>
                <c:pt idx="2">
                  <c:v>0.15</c:v>
                </c:pt>
                <c:pt idx="3">
                  <c:v>0.1</c:v>
                </c:pt>
                <c:pt idx="4">
                  <c:v>0.09</c:v>
                </c:pt>
                <c:pt idx="5">
                  <c:v>0.05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Min (hidden)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85</c:v>
                </c:pt>
                <c:pt idx="2">
                  <c:v>78</c:v>
                </c:pt>
                <c:pt idx="3">
                  <c:v>90</c:v>
                </c:pt>
                <c:pt idx="4">
                  <c:v>88</c:v>
                </c:pt>
                <c:pt idx="5">
                  <c:v>82</c:v>
                </c:pt>
                <c:pt idx="6">
                  <c:v>95</c:v>
                </c:pt>
                <c:pt idx="7">
                  <c:v>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3-Year Range</c:v>
                </c:pt>
              </c:strCache>
            </c:strRef>
          </c:tx>
          <c:spPr>
            <a:solidFill>
              <a:srgbClr val="BDD7EE"/>
            </a:solidFill>
            <a:ln>
              <a:noFill/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40</c:v>
                </c:pt>
                <c:pt idx="1">
                  <c:v>40</c:v>
                </c:pt>
                <c:pt idx="2">
                  <c:v>37</c:v>
                </c:pt>
                <c:pt idx="3">
                  <c:v>40</c:v>
                </c:pt>
                <c:pt idx="4">
                  <c:v>40</c:v>
                </c:pt>
                <c:pt idx="5">
                  <c:v>38</c:v>
                </c:pt>
                <c:pt idx="6">
                  <c:v>45</c:v>
                </c:pt>
                <c:pt idx="7">
                  <c:v>44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3-Year Avg</c:v>
                </c:pt>
              </c:strCache>
            </c:strRef>
          </c:tx>
          <c:spPr>
            <a:solidFill>
              <a:srgbClr val="7F7F7F"/>
            </a:solidFill>
            <a:ln>
              <a:solidFill>
                <a:srgbClr val="7F7F7F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100</c:v>
                </c:pt>
                <c:pt idx="1">
                  <c:v>105</c:v>
                </c:pt>
                <c:pt idx="2">
                  <c:v>97</c:v>
                </c:pt>
                <c:pt idx="3">
                  <c:v>110</c:v>
                </c:pt>
                <c:pt idx="4">
                  <c:v>108</c:v>
                </c:pt>
                <c:pt idx="5">
                  <c:v>101</c:v>
                </c:pt>
                <c:pt idx="6">
                  <c:v>118</c:v>
                </c:pt>
                <c:pt idx="7">
                  <c:v>113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002060"/>
            </a:solidFill>
            <a:ln>
              <a:solidFill>
                <a:srgbClr val="002060"/>
              </a:solidFill>
            </a:ln>
          </c:spPr>
          <c:dLbls>
            <c:txPr>
              <a:bodyPr/>
              <a:lstStyle/>
              <a:p>
                <a:pPr>
                  <a:defRPr sz="800" b="1"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95</c:v>
                </c:pt>
                <c:pt idx="1">
                  <c:v>108</c:v>
                </c:pt>
                <c:pt idx="2">
                  <c:v>102</c:v>
                </c:pt>
                <c:pt idx="3">
                  <c:v>115</c:v>
                </c:pt>
                <c:pt idx="4">
                  <c:v>112</c:v>
                </c:pt>
                <c:pt idx="5">
                  <c:v>98</c:v>
                </c:pt>
                <c:pt idx="6">
                  <c:v>125</c:v>
                </c:pt>
                <c:pt idx="7">
                  <c:v>120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C00000"/>
            </a:solidFill>
            <a:ln>
              <a:solidFill>
                <a:srgbClr val="C00000"/>
              </a:solidFill>
            </a:ln>
          </c:spPr>
          <c:cat>
            <c:strRef>
              <c:f>Sheet1!$A$2:$A$9</c:f>
              <c:strCache>
                <c:ptCount val="8"/>
                <c:pt idx="0">
                  <c:v>Wk 1</c:v>
                </c:pt>
                <c:pt idx="1">
                  <c:v>Wk 2</c:v>
                </c:pt>
                <c:pt idx="2">
                  <c:v>Wk 3</c:v>
                </c:pt>
                <c:pt idx="3">
                  <c:v>Wk 4</c:v>
                </c:pt>
                <c:pt idx="4">
                  <c:v>Wk 5</c:v>
                </c:pt>
                <c:pt idx="5">
                  <c:v>Wk 6</c:v>
                </c:pt>
                <c:pt idx="6">
                  <c:v>Wk 7</c:v>
                </c:pt>
                <c:pt idx="7">
                  <c:v>Wk 8</c:v>
                </c:pt>
              </c:strCache>
            </c:strRef>
          </c:cat>
          <c:val>
            <c:numRef>
              <c:f>Sheet1!$F$2:$F$9</c:f>
              <c:numCache>
                <c:formatCode>General</c:formatCode>
                <c:ptCount val="8"/>
                <c:pt idx="0">
                  <c:v>110</c:v>
                </c:pt>
                <c:pt idx="1">
                  <c:v>110</c:v>
                </c:pt>
                <c:pt idx="2">
                  <c:v>110</c:v>
                </c:pt>
                <c:pt idx="3">
                  <c:v>110</c:v>
                </c:pt>
                <c:pt idx="4">
                  <c:v>110</c:v>
                </c:pt>
                <c:pt idx="5">
                  <c:v>110</c:v>
                </c:pt>
                <c:pt idx="6">
                  <c:v>110</c:v>
                </c:pt>
                <c:pt idx="7">
                  <c:v>110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Global Business Services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FTE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0" y="4039569"/>
            <a:ext cx="1280160" cy="181259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184576"/>
            <a:ext cx="1280160" cy="15225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89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3123091"/>
            <a:ext cx="1280160" cy="91647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3196409"/>
            <a:ext cx="1280160" cy="7698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2430641"/>
            <a:ext cx="1280160" cy="69245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486037"/>
            <a:ext cx="1280160" cy="58165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1921486"/>
            <a:ext cx="1280160" cy="509155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1962218"/>
            <a:ext cx="1280160" cy="427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628878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193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55664" y="4507992"/>
            <a:ext cx="1280160" cy="134416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5664" y="4615525"/>
            <a:ext cx="1280160" cy="112910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66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55664" y="3876640"/>
            <a:ext cx="1280160" cy="63135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927148"/>
            <a:ext cx="1280160" cy="5303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55664" y="3489682"/>
            <a:ext cx="1280160" cy="386958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3520638"/>
            <a:ext cx="1280160" cy="3250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3224922"/>
            <a:ext cx="1280160" cy="26476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246102"/>
            <a:ext cx="1280160" cy="2223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0000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293231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129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4935681"/>
            <a:ext cx="1280160" cy="91647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10144" y="5008999"/>
            <a:ext cx="1280160" cy="76984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10144" y="4467259"/>
            <a:ext cx="1280160" cy="46842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10144" y="4504732"/>
            <a:ext cx="1280160" cy="3934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4080302"/>
            <a:ext cx="1280160" cy="386957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0144" y="4111258"/>
            <a:ext cx="1280160" cy="3250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0144" y="3917372"/>
            <a:ext cx="1280160" cy="16293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0144" y="3624764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95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5424470"/>
            <a:ext cx="1280160" cy="42769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64624" y="5458685"/>
            <a:ext cx="12801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64624" y="5261540"/>
            <a:ext cx="1280160" cy="16293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64624" y="5159709"/>
            <a:ext cx="1280160" cy="101831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64624" y="4867101"/>
            <a:ext cx="12801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404040"/>
                </a:solidFill>
                <a:latin typeface="Arial"/>
              </a:defRPr>
            </a:pPr>
            <a:r>
              <a:t>34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1921486"/>
            <a:ext cx="822960" cy="42769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83280" y="1955701"/>
            <a:ext cx="8229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70832" y="2349176"/>
            <a:ext cx="822960" cy="42769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70832" y="2383391"/>
            <a:ext cx="822960" cy="3592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58384" y="2776866"/>
            <a:ext cx="822960" cy="448056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58384" y="2812710"/>
            <a:ext cx="822960" cy="3763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7F7F7F"/>
                </a:solidFill>
                <a:latin typeface="Arial"/>
              </a:defRPr>
            </a:pPr>
            <a:r>
              <a:t>22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737360" y="5852160"/>
            <a:ext cx="9244584" cy="0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755648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Benchmark</a:t>
            </a:r>
            <a:br/>
            <a:r>
              <a:t>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10128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Process</a:t>
            </a:r>
            <a:br/>
            <a:r>
              <a:t>standardization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0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Strategic</a:t>
            </a:r>
            <a:br/>
            <a:r>
              <a:t>importance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85232" y="5943600"/>
            <a:ext cx="9692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System</a:t>
            </a:r>
            <a:br/>
            <a:r>
              <a:t>limitations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8251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Signed-off</a:t>
            </a:r>
            <a:br/>
            <a:r>
              <a:t>scope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00000"/>
                </a:solidFill>
                <a:latin typeface="Arial"/>
              </a:defRPr>
            </a:pPr>
            <a:r>
              <a:t>Transferred</a:t>
            </a:r>
            <a:br/>
            <a:r>
              <a:t>to 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91472" y="5943600"/>
            <a:ext cx="142646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0000"/>
                </a:solidFill>
                <a:latin typeface="Arial"/>
              </a:defRPr>
            </a:pPr>
            <a:r>
              <a:t>To be</a:t>
            </a:r>
            <a:br/>
            <a:r>
              <a:t>transferred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754880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Accounting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390345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Customer Service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257569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Procurement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1985079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Sales Support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108960" y="1921486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4206240" y="2349176"/>
            <a:ext cx="164592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93792" y="2776866"/>
            <a:ext cx="164592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181344" y="3224922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735824" y="3917372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290304" y="5159709"/>
            <a:ext cx="274320" cy="0"/>
          </a:xfrm>
          <a:prstGeom prst="line">
            <a:avLst/>
          </a:prstGeom>
          <a:ln w="9525">
            <a:solidFill>
              <a:srgbClr val="7F7F7F"/>
            </a:solidFill>
            <a:prstDash val="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Internal HR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Purchasing Manager's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% that agree with the following statements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881360" y="146304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2176272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2889504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3602736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4315968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C00000"/>
                </a:solidFill>
                <a:latin typeface="Arial"/>
              </a:defRPr>
            </a:pPr>
            <a:r>
              <a:t>▼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502920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70AD47"/>
                </a:solidFill>
                <a:latin typeface="Arial"/>
              </a:defRPr>
            </a:pPr>
            <a:r>
              <a:t>▲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Annual Procurement Survey 2024  |  n = 245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Gross Margin Analysis by Promotion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GM cents per unit vs. units sold (indexed, base = 100)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234440"/>
          <a:ext cx="105156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Trade &amp; Promotions dataset Q1–Q4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Online Revenue by Category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Share of total revenue, %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60520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955279" y="1234440"/>
          <a:ext cx="3749039" cy="4389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6035040"/>
            <a:ext cx="173736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Electronics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6035040"/>
            <a:ext cx="173736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Fashion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6035040"/>
            <a:ext cx="173736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Home &amp; Garden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6035040"/>
            <a:ext cx="1737360" cy="320040"/>
          </a:xfrm>
          <a:prstGeom prst="rect">
            <a:avLst/>
          </a:prstGeom>
          <a:solidFill>
            <a:srgbClr val="BDD7EE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Sports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035040"/>
            <a:ext cx="1737360" cy="320040"/>
          </a:xfrm>
          <a:prstGeom prst="rect">
            <a:avLst/>
          </a:prstGeom>
          <a:solidFill>
            <a:srgbClr val="7F7F7F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Beauty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6035040"/>
            <a:ext cx="173736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E-commerce Analytics Platform 2024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Daily Shipment Volume – Saturdays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Units (thousands)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34440"/>
          <a:ext cx="1143000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Logistics Operations Data 2024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Market Landscape by Region &amp; Product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Column width = market size ($M)  |  Height = share within region (%)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80160"/>
            <a:ext cx="2767584" cy="18288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07592"/>
            <a:ext cx="2712720" cy="1773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108960"/>
            <a:ext cx="276758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36392"/>
            <a:ext cx="271272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480560"/>
            <a:ext cx="2767584" cy="9144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07992"/>
            <a:ext cx="271272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394960"/>
            <a:ext cx="276758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2392"/>
            <a:ext cx="27127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280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Europe</a:t>
            </a:r>
            <a:br/>
            <a:r>
              <a:t>$320M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7120" y="1280160"/>
            <a:ext cx="4169664" cy="16002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2840" y="1307592"/>
            <a:ext cx="411480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27120" y="2880360"/>
            <a:ext cx="416966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72840" y="2907792"/>
            <a:ext cx="411480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27120" y="4251960"/>
            <a:ext cx="4169664" cy="11430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2840" y="4279392"/>
            <a:ext cx="411480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27120" y="5394960"/>
            <a:ext cx="416966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2840" y="5422392"/>
            <a:ext cx="411480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27120" y="59436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North America</a:t>
            </a:r>
            <a:br/>
            <a:r>
              <a:t>$480M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33360" y="1280160"/>
            <a:ext cx="2241804" cy="1143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79080" y="1307592"/>
            <a:ext cx="2186940" cy="10881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33360" y="2423160"/>
            <a:ext cx="2241804" cy="16002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79080" y="2450592"/>
            <a:ext cx="218694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33360" y="4023360"/>
            <a:ext cx="2241804" cy="13716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79080" y="4050792"/>
            <a:ext cx="218694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33360" y="5394960"/>
            <a:ext cx="2241804" cy="457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9080" y="5422392"/>
            <a:ext cx="218694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33360" y="5943600"/>
            <a:ext cx="22783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Asia Pacific</a:t>
            </a:r>
            <a:br/>
            <a:r>
              <a:t>$260M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11740" y="1280160"/>
            <a:ext cx="1190244" cy="9144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7460" y="1307592"/>
            <a:ext cx="1135380" cy="8595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20%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11740" y="2194560"/>
            <a:ext cx="1190244" cy="1371600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57460" y="2221992"/>
            <a:ext cx="1135380" cy="1316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30%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11740" y="3566160"/>
            <a:ext cx="1190244" cy="1600200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57460" y="3593592"/>
            <a:ext cx="1135380" cy="1545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35%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11740" y="5166360"/>
            <a:ext cx="1190244" cy="6858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57460" y="5193792"/>
            <a:ext cx="1135380" cy="6309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11740" y="5943600"/>
            <a:ext cx="12268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2060"/>
                </a:solidFill>
                <a:latin typeface="Arial"/>
              </a:defRPr>
            </a:pPr>
            <a:r>
              <a:t>Rest of World</a:t>
            </a:r>
            <a:br/>
            <a:r>
              <a:t>$140M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1280160"/>
            <a:ext cx="1371600" cy="320040"/>
          </a:xfrm>
          <a:prstGeom prst="rect">
            <a:avLst/>
          </a:prstGeom>
          <a:solidFill>
            <a:srgbClr val="002060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Premium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1645920"/>
            <a:ext cx="1371600" cy="320040"/>
          </a:xfrm>
          <a:prstGeom prst="rect">
            <a:avLst/>
          </a:prstGeom>
          <a:solidFill>
            <a:srgbClr val="1F5FA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FFFFFF"/>
                </a:solidFill>
                <a:latin typeface="Arial"/>
              </a:defRPr>
            </a:pPr>
            <a:r>
              <a:t>Mid-Range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2011680"/>
            <a:ext cx="1371600" cy="320040"/>
          </a:xfrm>
          <a:prstGeom prst="rect">
            <a:avLst/>
          </a:prstGeom>
          <a:solidFill>
            <a:srgbClr val="9DC3E6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Value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2377440"/>
            <a:ext cx="1371600" cy="320040"/>
          </a:xfrm>
          <a:prstGeom prst="rect">
            <a:avLst/>
          </a:prstGeom>
          <a:solidFill>
            <a:srgbClr val="D9D9D9"/>
          </a:solidFill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000000"/>
                </a:solidFill>
                <a:latin typeface="Arial"/>
              </a:defRPr>
            </a:pPr>
            <a:r>
              <a:t>Other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Market Intelligence Report 2024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Initiative Priority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Implementation Ease vs. Business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5394960" cy="2423160"/>
          </a:xfrm>
          <a:prstGeom prst="rect">
            <a:avLst/>
          </a:prstGeom>
          <a:solidFill>
            <a:srgbClr val="EAF4FB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0" y="1280160"/>
            <a:ext cx="5394960" cy="2423160"/>
          </a:xfrm>
          <a:prstGeom prst="rect">
            <a:avLst/>
          </a:prstGeom>
          <a:solidFill>
            <a:srgbClr val="EBF7E6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703320"/>
            <a:ext cx="5394960" cy="2423160"/>
          </a:xfrm>
          <a:prstGeom prst="rect">
            <a:avLst/>
          </a:prstGeom>
          <a:solidFill>
            <a:srgbClr val="F5F5F5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3703320"/>
            <a:ext cx="5394960" cy="2423160"/>
          </a:xfrm>
          <a:prstGeom prst="rect">
            <a:avLst/>
          </a:prstGeom>
          <a:solidFill>
            <a:srgbClr val="FEF9E7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4600" y="23088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7F7F7F"/>
                </a:solidFill>
                <a:latin typeface="Arial"/>
              </a:defRPr>
            </a:pPr>
            <a:r>
              <a:t>Strategic</a:t>
            </a:r>
            <a:br/>
            <a:r>
              <a:t>Bets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30886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7F7F7F"/>
                </a:solidFill>
                <a:latin typeface="Arial"/>
              </a:defRPr>
            </a:pPr>
            <a:r>
              <a:t>Quick Wins *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47320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7F7F7F"/>
                </a:solidFill>
                <a:latin typeface="Arial"/>
              </a:defRPr>
            </a:pPr>
            <a:r>
              <a:t>Avoid / Defer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47320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i="1">
                <a:solidFill>
                  <a:srgbClr val="7F7F7F"/>
                </a:solidFill>
                <a:latin typeface="Arial"/>
              </a:defRPr>
            </a:pPr>
            <a:r>
              <a:t>Fill-ins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703320"/>
            <a:ext cx="1078992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943600" y="1280160"/>
            <a:ext cx="0" cy="484632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043416" y="1627632"/>
            <a:ext cx="274320" cy="274320"/>
          </a:xfrm>
          <a:prstGeom prst="ellipse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45168" y="158191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  <a:latin typeface="Arial"/>
              </a:defRPr>
            </a:pPr>
            <a:r>
              <a:t>Digital Core Platform</a:t>
            </a:r>
          </a:p>
        </p:txBody>
      </p:sp>
      <p:sp>
        <p:nvSpPr>
          <p:cNvPr id="17" name="Oval 16"/>
          <p:cNvSpPr/>
          <p:nvPr/>
        </p:nvSpPr>
        <p:spPr>
          <a:xfrm>
            <a:off x="7424928" y="1869948"/>
            <a:ext cx="274320" cy="274320"/>
          </a:xfrm>
          <a:prstGeom prst="ellipse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0" y="182422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  <a:latin typeface="Arial"/>
              </a:defRPr>
            </a:pPr>
            <a:r>
              <a:t>Customer 360</a:t>
            </a:r>
          </a:p>
        </p:txBody>
      </p:sp>
      <p:sp>
        <p:nvSpPr>
          <p:cNvPr id="19" name="Oval 18"/>
          <p:cNvSpPr/>
          <p:nvPr/>
        </p:nvSpPr>
        <p:spPr>
          <a:xfrm>
            <a:off x="8503920" y="2596896"/>
            <a:ext cx="274320" cy="274320"/>
          </a:xfrm>
          <a:prstGeom prst="ellipse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5672" y="255117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  <a:latin typeface="Arial"/>
              </a:defRPr>
            </a:pPr>
            <a:r>
              <a:t>Cost Transformation</a:t>
            </a:r>
          </a:p>
        </p:txBody>
      </p:sp>
      <p:sp>
        <p:nvSpPr>
          <p:cNvPr id="21" name="Oval 20"/>
          <p:cNvSpPr/>
          <p:nvPr/>
        </p:nvSpPr>
        <p:spPr>
          <a:xfrm>
            <a:off x="5266944" y="3081528"/>
            <a:ext cx="274320" cy="274320"/>
          </a:xfrm>
          <a:prstGeom prst="ellipse">
            <a:avLst/>
          </a:prstGeom>
          <a:solidFill>
            <a:srgbClr val="1F5FA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68696" y="303580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5FA6"/>
                </a:solidFill>
                <a:latin typeface="Arial"/>
              </a:defRPr>
            </a:pPr>
            <a:r>
              <a:t>Talent Upskilling</a:t>
            </a:r>
          </a:p>
        </p:txBody>
      </p:sp>
      <p:sp>
        <p:nvSpPr>
          <p:cNvPr id="23" name="Oval 22"/>
          <p:cNvSpPr/>
          <p:nvPr/>
        </p:nvSpPr>
        <p:spPr>
          <a:xfrm>
            <a:off x="9582912" y="2839212"/>
            <a:ext cx="274320" cy="274320"/>
          </a:xfrm>
          <a:prstGeom prst="ellipse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84664" y="2793492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  <a:latin typeface="Arial"/>
              </a:defRPr>
            </a:pPr>
            <a:r>
              <a:t>Process Automation</a:t>
            </a:r>
          </a:p>
        </p:txBody>
      </p:sp>
      <p:sp>
        <p:nvSpPr>
          <p:cNvPr id="25" name="Oval 24"/>
          <p:cNvSpPr/>
          <p:nvPr/>
        </p:nvSpPr>
        <p:spPr>
          <a:xfrm>
            <a:off x="3648456" y="2112264"/>
            <a:ext cx="274320" cy="274320"/>
          </a:xfrm>
          <a:prstGeom prst="ellipse">
            <a:avLst/>
          </a:prstGeom>
          <a:solidFill>
            <a:srgbClr val="1F5FA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50208" y="20665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5FA6"/>
                </a:solidFill>
                <a:latin typeface="Arial"/>
              </a:defRPr>
            </a:pPr>
            <a:r>
              <a:t>Org Redesign</a:t>
            </a:r>
          </a:p>
        </p:txBody>
      </p:sp>
      <p:sp>
        <p:nvSpPr>
          <p:cNvPr id="27" name="Oval 26"/>
          <p:cNvSpPr/>
          <p:nvPr/>
        </p:nvSpPr>
        <p:spPr>
          <a:xfrm>
            <a:off x="6345936" y="1385316"/>
            <a:ext cx="274320" cy="274320"/>
          </a:xfrm>
          <a:prstGeom prst="ellipse">
            <a:avLst/>
          </a:prstGeom>
          <a:solidFill>
            <a:srgbClr val="00206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47688" y="133959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  <a:latin typeface="Arial"/>
              </a:defRPr>
            </a:pPr>
            <a:r>
              <a:t>Analytics &amp; AI</a:t>
            </a:r>
          </a:p>
        </p:txBody>
      </p:sp>
      <p:sp>
        <p:nvSpPr>
          <p:cNvPr id="29" name="Oval 28"/>
          <p:cNvSpPr/>
          <p:nvPr/>
        </p:nvSpPr>
        <p:spPr>
          <a:xfrm>
            <a:off x="7964424" y="3566160"/>
            <a:ext cx="274320" cy="274320"/>
          </a:xfrm>
          <a:prstGeom prst="ellipse">
            <a:avLst/>
          </a:prstGeom>
          <a:solidFill>
            <a:srgbClr val="1F5FA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66176" y="35204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5FA6"/>
                </a:solidFill>
                <a:latin typeface="Arial"/>
              </a:defRPr>
            </a:pPr>
            <a:r>
              <a:t>Supplier Consolidation</a:t>
            </a:r>
          </a:p>
        </p:txBody>
      </p:sp>
      <p:sp>
        <p:nvSpPr>
          <p:cNvPr id="31" name="Oval 30"/>
          <p:cNvSpPr/>
          <p:nvPr/>
        </p:nvSpPr>
        <p:spPr>
          <a:xfrm>
            <a:off x="6885432" y="3808476"/>
            <a:ext cx="274320" cy="274320"/>
          </a:xfrm>
          <a:prstGeom prst="ellipse">
            <a:avLst/>
          </a:prstGeom>
          <a:solidFill>
            <a:srgbClr val="1F5FA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7184" y="376275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5FA6"/>
                </a:solidFill>
                <a:latin typeface="Arial"/>
              </a:defRPr>
            </a:pPr>
            <a:r>
              <a:t>ESG Reporting</a:t>
            </a:r>
          </a:p>
        </p:txBody>
      </p:sp>
      <p:sp>
        <p:nvSpPr>
          <p:cNvPr id="33" name="Oval 32"/>
          <p:cNvSpPr/>
          <p:nvPr/>
        </p:nvSpPr>
        <p:spPr>
          <a:xfrm>
            <a:off x="3108960" y="2596896"/>
            <a:ext cx="274320" cy="274320"/>
          </a:xfrm>
          <a:prstGeom prst="ellipse">
            <a:avLst/>
          </a:prstGeom>
          <a:solidFill>
            <a:srgbClr val="1F5FA6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10712" y="255117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5FA6"/>
                </a:solidFill>
                <a:latin typeface="Arial"/>
              </a:defRPr>
            </a:pPr>
            <a:r>
              <a:t>Legacy Migration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60807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  <a:latin typeface="Arial"/>
              </a:defRPr>
            </a:pPr>
            <a:r>
              <a:t>&lt;- Harder  |  Implementation Ease  |  Easier -&gt;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-1737360" y="473202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  <a:latin typeface="Arial"/>
              </a:defRPr>
            </a:pPr>
            <a:r>
              <a:t>Low Impact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-1783080" y="230886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  <a:latin typeface="Arial"/>
              </a:defRPr>
            </a:pPr>
            <a:r>
              <a:t>High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Strategic Planning Workshop 2024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EBITDA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$M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461964"/>
            <a:ext cx="8977745" cy="3356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2497" y="1461964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  <a:latin typeface="Arial"/>
              </a:defRPr>
            </a:pPr>
            <a:r>
              <a:t>$500M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" y="1461964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7117357" y="1978331"/>
            <a:ext cx="3231988" cy="3356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2497" y="1978331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  <a:latin typeface="Arial"/>
              </a:defRPr>
            </a:pPr>
            <a:r>
              <a:t>$180M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" y="1978331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Cost of Goods Sold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494698"/>
            <a:ext cx="5745757" cy="3356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90509" y="2494698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  <a:latin typeface="Arial"/>
              </a:defRPr>
            </a:pPr>
            <a:r>
              <a:t>$320M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" y="2494698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Gross Profit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60472" y="3011065"/>
            <a:ext cx="1256885" cy="3356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90509" y="3011065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  <a:latin typeface="Arial"/>
              </a:defRPr>
            </a:pPr>
            <a:r>
              <a:t>$70M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" y="3011065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SG&amp;A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52475" y="3527432"/>
            <a:ext cx="807997" cy="3356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33624" y="3527432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  <a:latin typeface="Arial"/>
              </a:defRPr>
            </a:pPr>
            <a:r>
              <a:t>$45M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" y="3527432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R&amp;D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52475" y="4043799"/>
            <a:ext cx="574576" cy="335638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0203" y="4043799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70AD47"/>
                </a:solidFill>
                <a:latin typeface="Arial"/>
              </a:defRPr>
            </a:pPr>
            <a:r>
              <a:t>$32M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" y="4043799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D&amp;A Add-back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67941" y="4560166"/>
            <a:ext cx="359110" cy="33563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0203" y="4560166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00000"/>
                </a:solidFill>
                <a:latin typeface="Arial"/>
              </a:defRPr>
            </a:pPr>
            <a:r>
              <a:t>$20M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" y="4560166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One-off Items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71600" y="5076533"/>
            <a:ext cx="3896341" cy="33563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1093" y="5076533"/>
            <a:ext cx="640080" cy="33563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  <a:latin typeface="Arial"/>
              </a:defRPr>
            </a:pPr>
            <a:r>
              <a:t>$217M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" y="5076533"/>
            <a:ext cx="1234440" cy="3356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EBITDA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71600" y="5760720"/>
            <a:ext cx="987552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371600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97280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$0M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3167149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892829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$100M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962698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688378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$200M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58247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83927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$300M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553796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279476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$400M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349345" y="1371600"/>
            <a:ext cx="0" cy="438912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075025" y="58064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$500M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Management Accounts FY2024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Transformation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Weeks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286000" y="9601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W0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14569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668818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394498" y="9601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W8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23068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777317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02997" y="9601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W16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31567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85816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11496" y="9601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W24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940065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94315" y="1280160"/>
            <a:ext cx="0" cy="475488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19995" y="9601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W32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1366200"/>
            <a:ext cx="1581374" cy="28076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24328" y="1366200"/>
            <a:ext cx="1489934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Current State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" y="1366200"/>
            <a:ext cx="2377440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2060"/>
                </a:solidFill>
                <a:latin typeface="Arial"/>
              </a:defRPr>
            </a:pPr>
            <a:r>
              <a:t>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87444" y="1819045"/>
            <a:ext cx="1317812" cy="28076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1452" y="1819045"/>
            <a:ext cx="1226372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Stakeholder Interviews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78131" y="2271890"/>
            <a:ext cx="2108499" cy="280763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2139" y="2271890"/>
            <a:ext cx="2017059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Future State Blueprint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" y="2271890"/>
            <a:ext cx="2377440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2060"/>
                </a:solidFill>
                <a:latin typeface="Arial"/>
              </a:defRPr>
            </a:pPr>
            <a:r>
              <a:t>Design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05256" y="2724735"/>
            <a:ext cx="1581374" cy="280763"/>
          </a:xfrm>
          <a:prstGeom prst="rect">
            <a:avLst/>
          </a:prstGeom>
          <a:solidFill>
            <a:srgbClr val="1F5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9264" y="2724735"/>
            <a:ext cx="1489934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Business Case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23068" y="3177580"/>
            <a:ext cx="1054249" cy="280763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87076" y="3177580"/>
            <a:ext cx="962809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Site Preparation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" y="3177580"/>
            <a:ext cx="2377440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2060"/>
                </a:solidFill>
                <a:latin typeface="Arial"/>
              </a:defRPr>
            </a:pPr>
            <a:r>
              <a:t>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50192" y="3630425"/>
            <a:ext cx="1581375" cy="280763"/>
          </a:xfrm>
          <a:prstGeom prst="rect">
            <a:avLst/>
          </a:prstGeom>
          <a:solidFill>
            <a:srgbClr val="9DC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4200" y="3630425"/>
            <a:ext cx="1489935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Pilot Execution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68004" y="4083270"/>
            <a:ext cx="2108499" cy="280763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2012" y="4083270"/>
            <a:ext cx="2017059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Wave 1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" y="4083270"/>
            <a:ext cx="2377440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2060"/>
                </a:solidFill>
                <a:latin typeface="Arial"/>
              </a:defRPr>
            </a:pPr>
            <a:r>
              <a:t>Rollout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9378" y="4536115"/>
            <a:ext cx="2108499" cy="280763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3386" y="4536115"/>
            <a:ext cx="2017059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Wave 2 Deployment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68004" y="4988960"/>
            <a:ext cx="3689873" cy="280763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32012" y="4988960"/>
            <a:ext cx="3598433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FFFFFF"/>
                </a:solidFill>
                <a:latin typeface="Arial"/>
              </a:defRPr>
            </a:pPr>
            <a:r>
              <a:t>Change Management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560320" y="5441805"/>
            <a:ext cx="8433995" cy="280763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24328" y="5441805"/>
            <a:ext cx="8342555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404040"/>
                </a:solidFill>
                <a:latin typeface="Arial"/>
              </a:defRPr>
            </a:pPr>
            <a:r>
              <a:t>PMO &amp; Tracking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" y="5441805"/>
            <a:ext cx="2377440" cy="2807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02060"/>
                </a:solidFill>
                <a:latin typeface="Arial"/>
              </a:defRPr>
            </a:pPr>
            <a:r>
              <a:t>Governance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560320" y="6035040"/>
            <a:ext cx="8961120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Programme Management Office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Capability Benchmarking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Harvey Ball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11247120" cy="56692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0" y="1325880"/>
            <a:ext cx="1737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McKinsey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325880"/>
            <a:ext cx="1737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BCG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25880"/>
            <a:ext cx="1737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Bain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325880"/>
            <a:ext cx="1737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Deloitte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0" y="1325880"/>
            <a:ext cx="17373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Accenture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892808"/>
            <a:ext cx="11247120" cy="566928"/>
          </a:xfrm>
          <a:prstGeom prst="rect">
            <a:avLst/>
          </a:prstGeom>
          <a:solidFill>
            <a:srgbClr val="FFFF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892808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Strategy &amp; Vision</a:t>
            </a:r>
          </a:p>
        </p:txBody>
      </p:sp>
      <p:sp>
        <p:nvSpPr>
          <p:cNvPr id="13" name="Oval 12"/>
          <p:cNvSpPr/>
          <p:nvPr/>
        </p:nvSpPr>
        <p:spPr>
          <a:xfrm>
            <a:off x="3685032" y="19751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85032" y="1975104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22392" y="19751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22392" y="1975104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59752" y="19751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7159752" y="19751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97112" y="19751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8897112" y="19751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634472" y="19751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0634472" y="197510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2459736"/>
            <a:ext cx="11247120" cy="566928"/>
          </a:xfrm>
          <a:prstGeom prst="rect">
            <a:avLst/>
          </a:prstGeom>
          <a:solidFill>
            <a:srgbClr val="F5F8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459736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Digital Capability</a:t>
            </a:r>
          </a:p>
        </p:txBody>
      </p:sp>
      <p:sp>
        <p:nvSpPr>
          <p:cNvPr id="25" name="Oval 24"/>
          <p:cNvSpPr/>
          <p:nvPr/>
        </p:nvSpPr>
        <p:spPr>
          <a:xfrm>
            <a:off x="3685032" y="25420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3685032" y="254203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22392" y="25420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22392" y="2542032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59752" y="25420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7360920" y="2542032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897112" y="25420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97112" y="2542032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634472" y="254203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634472" y="2542032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3026664"/>
            <a:ext cx="11247120" cy="566928"/>
          </a:xfrm>
          <a:prstGeom prst="rect">
            <a:avLst/>
          </a:prstGeom>
          <a:solidFill>
            <a:srgbClr val="FFFF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026664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Operational Excellence</a:t>
            </a:r>
          </a:p>
        </p:txBody>
      </p:sp>
      <p:sp>
        <p:nvSpPr>
          <p:cNvPr id="37" name="Oval 36"/>
          <p:cNvSpPr/>
          <p:nvPr/>
        </p:nvSpPr>
        <p:spPr>
          <a:xfrm>
            <a:off x="3685032" y="310896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685032" y="31089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22392" y="310896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5422392" y="31089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159752" y="310896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159752" y="3108960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897112" y="310896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8897112" y="31089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634472" y="3108960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634472" y="3108960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F5F8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3593592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M&amp;A Advisory</a:t>
            </a:r>
          </a:p>
        </p:txBody>
      </p:sp>
      <p:sp>
        <p:nvSpPr>
          <p:cNvPr id="49" name="Oval 48"/>
          <p:cNvSpPr/>
          <p:nvPr/>
        </p:nvSpPr>
        <p:spPr>
          <a:xfrm>
            <a:off x="3685032" y="36758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685032" y="3675888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422392" y="36758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5422392" y="367588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159752" y="36758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7159752" y="3675888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97112" y="36758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9098280" y="3675888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634472" y="36758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0835640" y="3675888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4160520"/>
            <a:ext cx="11247120" cy="566928"/>
          </a:xfrm>
          <a:prstGeom prst="rect">
            <a:avLst/>
          </a:prstGeom>
          <a:solidFill>
            <a:srgbClr val="FFFF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4160520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Talent &amp; Culture</a:t>
            </a:r>
          </a:p>
        </p:txBody>
      </p:sp>
      <p:sp>
        <p:nvSpPr>
          <p:cNvPr id="61" name="Oval 60"/>
          <p:cNvSpPr/>
          <p:nvPr/>
        </p:nvSpPr>
        <p:spPr>
          <a:xfrm>
            <a:off x="3685032" y="42428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3685032" y="4242816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5422392" y="42428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5422392" y="424281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59752" y="42428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59752" y="4242816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897112" y="42428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8897112" y="424281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0634472" y="42428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0634472" y="4242816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57200" y="4727448"/>
            <a:ext cx="11247120" cy="566928"/>
          </a:xfrm>
          <a:prstGeom prst="rect">
            <a:avLst/>
          </a:prstGeom>
          <a:solidFill>
            <a:srgbClr val="F5F8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4727448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Technology Delivery</a:t>
            </a:r>
          </a:p>
        </p:txBody>
      </p:sp>
      <p:sp>
        <p:nvSpPr>
          <p:cNvPr id="73" name="Oval 72"/>
          <p:cNvSpPr/>
          <p:nvPr/>
        </p:nvSpPr>
        <p:spPr>
          <a:xfrm>
            <a:off x="3685032" y="48097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3886200" y="4809744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422392" y="48097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5422392" y="4809744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159752" y="48097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reeform 77"/>
          <p:cNvSpPr/>
          <p:nvPr/>
        </p:nvSpPr>
        <p:spPr>
          <a:xfrm>
            <a:off x="7360920" y="4809744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897112" y="48097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897112" y="4809744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0634472" y="48097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0634472" y="4809744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57200" y="5294376"/>
            <a:ext cx="11247120" cy="566928"/>
          </a:xfrm>
          <a:prstGeom prst="rect">
            <a:avLst/>
          </a:prstGeom>
          <a:solidFill>
            <a:srgbClr val="FFFFFF"/>
          </a:solidFill>
          <a:ln w="3175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8640" y="5294376"/>
            <a:ext cx="242316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404040"/>
                </a:solidFill>
                <a:latin typeface="Arial"/>
              </a:defRPr>
            </a:pPr>
            <a:r>
              <a:t>Sector Expertise</a:t>
            </a:r>
          </a:p>
        </p:txBody>
      </p:sp>
      <p:sp>
        <p:nvSpPr>
          <p:cNvPr id="85" name="Oval 84"/>
          <p:cNvSpPr/>
          <p:nvPr/>
        </p:nvSpPr>
        <p:spPr>
          <a:xfrm>
            <a:off x="3685032" y="537667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3685032" y="5376672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422392" y="537667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Freeform 87"/>
          <p:cNvSpPr/>
          <p:nvPr/>
        </p:nvSpPr>
        <p:spPr>
          <a:xfrm>
            <a:off x="5422392" y="537667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159752" y="537667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159752" y="5376672"/>
            <a:ext cx="402336" cy="40233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897112" y="537667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9098280" y="5376672"/>
            <a:ext cx="201168" cy="402336"/>
          </a:xfrm>
          <a:custGeom>
            <a:avLst/>
            <a:gdLst/>
            <a:ahLst/>
            <a:cxnLst/>
            <a:rect l="l" t="t" r="r" b="b"/>
            <a:pathLst>
              <a:path w="201168" h="402336">
                <a:moveTo>
                  <a:pt x="0" y="201168"/>
                </a:moveTo>
                <a:lnTo>
                  <a:pt x="0" y="0"/>
                </a:lnTo>
                <a:lnTo>
                  <a:pt x="26257" y="1722"/>
                </a:lnTo>
                <a:lnTo>
                  <a:pt x="52066" y="6855"/>
                </a:lnTo>
                <a:lnTo>
                  <a:pt x="76983" y="15314"/>
                </a:lnTo>
                <a:lnTo>
                  <a:pt x="100583" y="26952"/>
                </a:lnTo>
                <a:lnTo>
                  <a:pt x="122463" y="41571"/>
                </a:lnTo>
                <a:lnTo>
                  <a:pt x="142247" y="58921"/>
                </a:lnTo>
                <a:lnTo>
                  <a:pt x="159597" y="78705"/>
                </a:lnTo>
                <a:lnTo>
                  <a:pt x="174216" y="100584"/>
                </a:lnTo>
                <a:lnTo>
                  <a:pt x="185854" y="124185"/>
                </a:lnTo>
                <a:lnTo>
                  <a:pt x="194313" y="149102"/>
                </a:lnTo>
                <a:lnTo>
                  <a:pt x="199446" y="174911"/>
                </a:lnTo>
                <a:lnTo>
                  <a:pt x="201168" y="201168"/>
                </a:lnTo>
                <a:lnTo>
                  <a:pt x="199446" y="227425"/>
                </a:lnTo>
                <a:lnTo>
                  <a:pt x="194313" y="253234"/>
                </a:lnTo>
                <a:lnTo>
                  <a:pt x="185854" y="278151"/>
                </a:lnTo>
                <a:lnTo>
                  <a:pt x="174216" y="301751"/>
                </a:lnTo>
                <a:lnTo>
                  <a:pt x="159597" y="323631"/>
                </a:lnTo>
                <a:lnTo>
                  <a:pt x="142247" y="343415"/>
                </a:lnTo>
                <a:lnTo>
                  <a:pt x="122463" y="360765"/>
                </a:lnTo>
                <a:lnTo>
                  <a:pt x="100583" y="375384"/>
                </a:lnTo>
                <a:lnTo>
                  <a:pt x="76983" y="387022"/>
                </a:lnTo>
                <a:lnTo>
                  <a:pt x="52066" y="395481"/>
                </a:lnTo>
                <a:lnTo>
                  <a:pt x="26257" y="400614"/>
                </a:lnTo>
                <a:lnTo>
                  <a:pt x="0" y="402336"/>
                </a:lnTo>
                <a:lnTo>
                  <a:pt x="0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0634472" y="5376672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reeform 93"/>
          <p:cNvSpPr/>
          <p:nvPr/>
        </p:nvSpPr>
        <p:spPr>
          <a:xfrm>
            <a:off x="10634472" y="5376672"/>
            <a:ext cx="402336" cy="402336"/>
          </a:xfrm>
          <a:custGeom>
            <a:avLst/>
            <a:gdLst/>
            <a:ahLst/>
            <a:cxnLst/>
            <a:rect l="l" t="t" r="r" b="b"/>
            <a:pathLst>
              <a:path w="402336" h="402336">
                <a:moveTo>
                  <a:pt x="201168" y="201168"/>
                </a:moveTo>
                <a:lnTo>
                  <a:pt x="201168" y="0"/>
                </a:lnTo>
                <a:lnTo>
                  <a:pt x="227425" y="1722"/>
                </a:lnTo>
                <a:lnTo>
                  <a:pt x="253234" y="6855"/>
                </a:lnTo>
                <a:lnTo>
                  <a:pt x="278151" y="15314"/>
                </a:lnTo>
                <a:lnTo>
                  <a:pt x="301751" y="26952"/>
                </a:lnTo>
                <a:lnTo>
                  <a:pt x="323631" y="41571"/>
                </a:lnTo>
                <a:lnTo>
                  <a:pt x="343415" y="58921"/>
                </a:lnTo>
                <a:lnTo>
                  <a:pt x="360765" y="78705"/>
                </a:lnTo>
                <a:lnTo>
                  <a:pt x="375384" y="100584"/>
                </a:lnTo>
                <a:lnTo>
                  <a:pt x="387022" y="124185"/>
                </a:lnTo>
                <a:lnTo>
                  <a:pt x="395481" y="149102"/>
                </a:lnTo>
                <a:lnTo>
                  <a:pt x="400614" y="174911"/>
                </a:lnTo>
                <a:lnTo>
                  <a:pt x="402336" y="201168"/>
                </a:lnTo>
                <a:lnTo>
                  <a:pt x="400614" y="227425"/>
                </a:lnTo>
                <a:lnTo>
                  <a:pt x="395481" y="253234"/>
                </a:lnTo>
                <a:lnTo>
                  <a:pt x="387022" y="278151"/>
                </a:lnTo>
                <a:lnTo>
                  <a:pt x="375384" y="301751"/>
                </a:lnTo>
                <a:lnTo>
                  <a:pt x="360765" y="323631"/>
                </a:lnTo>
                <a:lnTo>
                  <a:pt x="343415" y="343415"/>
                </a:lnTo>
                <a:lnTo>
                  <a:pt x="323631" y="360765"/>
                </a:lnTo>
                <a:lnTo>
                  <a:pt x="301752" y="375384"/>
                </a:lnTo>
                <a:lnTo>
                  <a:pt x="278151" y="387022"/>
                </a:lnTo>
                <a:lnTo>
                  <a:pt x="253234" y="395481"/>
                </a:lnTo>
                <a:lnTo>
                  <a:pt x="227425" y="400614"/>
                </a:lnTo>
                <a:lnTo>
                  <a:pt x="201168" y="402336"/>
                </a:lnTo>
                <a:lnTo>
                  <a:pt x="174911" y="400614"/>
                </a:lnTo>
                <a:lnTo>
                  <a:pt x="149102" y="395481"/>
                </a:lnTo>
                <a:lnTo>
                  <a:pt x="124185" y="387022"/>
                </a:lnTo>
                <a:lnTo>
                  <a:pt x="100584" y="375384"/>
                </a:lnTo>
                <a:lnTo>
                  <a:pt x="78705" y="360765"/>
                </a:lnTo>
                <a:lnTo>
                  <a:pt x="58921" y="343415"/>
                </a:lnTo>
                <a:lnTo>
                  <a:pt x="41571" y="323631"/>
                </a:lnTo>
                <a:lnTo>
                  <a:pt x="26952" y="301752"/>
                </a:lnTo>
                <a:lnTo>
                  <a:pt x="15314" y="278151"/>
                </a:lnTo>
                <a:lnTo>
                  <a:pt x="6855" y="253234"/>
                </a:lnTo>
                <a:lnTo>
                  <a:pt x="1722" y="227425"/>
                </a:lnTo>
                <a:lnTo>
                  <a:pt x="0" y="201168"/>
                </a:lnTo>
                <a:lnTo>
                  <a:pt x="201168" y="20116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530352" y="608990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32688" y="6044184"/>
            <a:ext cx="16459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04040"/>
                </a:solidFill>
                <a:latin typeface="Arial"/>
              </a:defRPr>
            </a:pPr>
            <a:r>
              <a:t>No capability</a:t>
            </a:r>
          </a:p>
        </p:txBody>
      </p:sp>
      <p:sp>
        <p:nvSpPr>
          <p:cNvPr id="97" name="Oval 96"/>
          <p:cNvSpPr/>
          <p:nvPr/>
        </p:nvSpPr>
        <p:spPr>
          <a:xfrm>
            <a:off x="2724912" y="608990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2880360" y="6089904"/>
            <a:ext cx="155448" cy="155448"/>
          </a:xfrm>
          <a:custGeom>
            <a:avLst/>
            <a:gdLst/>
            <a:ahLst/>
            <a:cxnLst/>
            <a:rect l="l" t="t" r="r" b="b"/>
            <a:pathLst>
              <a:path w="155448" h="155448">
                <a:moveTo>
                  <a:pt x="0" y="155448"/>
                </a:moveTo>
                <a:lnTo>
                  <a:pt x="0" y="0"/>
                </a:lnTo>
                <a:lnTo>
                  <a:pt x="15236" y="749"/>
                </a:lnTo>
                <a:lnTo>
                  <a:pt x="30326" y="2987"/>
                </a:lnTo>
                <a:lnTo>
                  <a:pt x="45124" y="6694"/>
                </a:lnTo>
                <a:lnTo>
                  <a:pt x="59487" y="11833"/>
                </a:lnTo>
                <a:lnTo>
                  <a:pt x="73277" y="18356"/>
                </a:lnTo>
                <a:lnTo>
                  <a:pt x="86362" y="26198"/>
                </a:lnTo>
                <a:lnTo>
                  <a:pt x="98615" y="35286"/>
                </a:lnTo>
                <a:lnTo>
                  <a:pt x="109918" y="45530"/>
                </a:lnTo>
                <a:lnTo>
                  <a:pt x="120162" y="56833"/>
                </a:lnTo>
                <a:lnTo>
                  <a:pt x="129250" y="69086"/>
                </a:lnTo>
                <a:lnTo>
                  <a:pt x="137092" y="82171"/>
                </a:lnTo>
                <a:lnTo>
                  <a:pt x="143615" y="95961"/>
                </a:lnTo>
                <a:lnTo>
                  <a:pt x="148754" y="110324"/>
                </a:lnTo>
                <a:lnTo>
                  <a:pt x="152461" y="125122"/>
                </a:lnTo>
                <a:lnTo>
                  <a:pt x="154699" y="140212"/>
                </a:lnTo>
                <a:lnTo>
                  <a:pt x="155448" y="155448"/>
                </a:lnTo>
                <a:lnTo>
                  <a:pt x="0" y="15544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27248" y="6044184"/>
            <a:ext cx="16459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04040"/>
                </a:solidFill>
                <a:latin typeface="Arial"/>
              </a:defRPr>
            </a:pPr>
            <a:r>
              <a:t>Basic</a:t>
            </a:r>
          </a:p>
        </p:txBody>
      </p:sp>
      <p:sp>
        <p:nvSpPr>
          <p:cNvPr id="100" name="Oval 99"/>
          <p:cNvSpPr/>
          <p:nvPr/>
        </p:nvSpPr>
        <p:spPr>
          <a:xfrm>
            <a:off x="4919472" y="608990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5074920" y="6089904"/>
            <a:ext cx="155448" cy="310896"/>
          </a:xfrm>
          <a:custGeom>
            <a:avLst/>
            <a:gdLst/>
            <a:ahLst/>
            <a:cxnLst/>
            <a:rect l="l" t="t" r="r" b="b"/>
            <a:pathLst>
              <a:path w="155448" h="310896">
                <a:moveTo>
                  <a:pt x="0" y="155448"/>
                </a:moveTo>
                <a:lnTo>
                  <a:pt x="0" y="0"/>
                </a:lnTo>
                <a:lnTo>
                  <a:pt x="20290" y="1330"/>
                </a:lnTo>
                <a:lnTo>
                  <a:pt x="40232" y="5297"/>
                </a:lnTo>
                <a:lnTo>
                  <a:pt x="59487" y="11833"/>
                </a:lnTo>
                <a:lnTo>
                  <a:pt x="77723" y="20827"/>
                </a:lnTo>
                <a:lnTo>
                  <a:pt x="94630" y="32123"/>
                </a:lnTo>
                <a:lnTo>
                  <a:pt x="109918" y="45530"/>
                </a:lnTo>
                <a:lnTo>
                  <a:pt x="123325" y="60818"/>
                </a:lnTo>
                <a:lnTo>
                  <a:pt x="134621" y="77724"/>
                </a:lnTo>
                <a:lnTo>
                  <a:pt x="143615" y="95961"/>
                </a:lnTo>
                <a:lnTo>
                  <a:pt x="150151" y="115216"/>
                </a:lnTo>
                <a:lnTo>
                  <a:pt x="154118" y="135158"/>
                </a:lnTo>
                <a:lnTo>
                  <a:pt x="155448" y="155448"/>
                </a:lnTo>
                <a:lnTo>
                  <a:pt x="154118" y="175738"/>
                </a:lnTo>
                <a:lnTo>
                  <a:pt x="150151" y="195680"/>
                </a:lnTo>
                <a:lnTo>
                  <a:pt x="143615" y="214935"/>
                </a:lnTo>
                <a:lnTo>
                  <a:pt x="134621" y="233171"/>
                </a:lnTo>
                <a:lnTo>
                  <a:pt x="123325" y="250078"/>
                </a:lnTo>
                <a:lnTo>
                  <a:pt x="109918" y="265366"/>
                </a:lnTo>
                <a:lnTo>
                  <a:pt x="94630" y="278773"/>
                </a:lnTo>
                <a:lnTo>
                  <a:pt x="77723" y="290069"/>
                </a:lnTo>
                <a:lnTo>
                  <a:pt x="59487" y="299063"/>
                </a:lnTo>
                <a:lnTo>
                  <a:pt x="40232" y="305599"/>
                </a:lnTo>
                <a:lnTo>
                  <a:pt x="20290" y="309566"/>
                </a:lnTo>
                <a:lnTo>
                  <a:pt x="0" y="310896"/>
                </a:lnTo>
                <a:lnTo>
                  <a:pt x="0" y="15544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321808" y="6044184"/>
            <a:ext cx="16459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04040"/>
                </a:solidFill>
                <a:latin typeface="Arial"/>
              </a:defRPr>
            </a:pPr>
            <a:r>
              <a:t>Moderate</a:t>
            </a:r>
          </a:p>
        </p:txBody>
      </p:sp>
      <p:sp>
        <p:nvSpPr>
          <p:cNvPr id="103" name="Oval 102"/>
          <p:cNvSpPr/>
          <p:nvPr/>
        </p:nvSpPr>
        <p:spPr>
          <a:xfrm>
            <a:off x="7114032" y="608990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Freeform 103"/>
          <p:cNvSpPr/>
          <p:nvPr/>
        </p:nvSpPr>
        <p:spPr>
          <a:xfrm>
            <a:off x="7114032" y="6089904"/>
            <a:ext cx="310896" cy="310896"/>
          </a:xfrm>
          <a:custGeom>
            <a:avLst/>
            <a:gdLst/>
            <a:ahLst/>
            <a:cxnLst/>
            <a:rect l="l" t="t" r="r" b="b"/>
            <a:pathLst>
              <a:path w="310896" h="310896">
                <a:moveTo>
                  <a:pt x="155448" y="155448"/>
                </a:moveTo>
                <a:lnTo>
                  <a:pt x="155448" y="0"/>
                </a:lnTo>
                <a:lnTo>
                  <a:pt x="175738" y="1330"/>
                </a:lnTo>
                <a:lnTo>
                  <a:pt x="195680" y="5297"/>
                </a:lnTo>
                <a:lnTo>
                  <a:pt x="214935" y="11833"/>
                </a:lnTo>
                <a:lnTo>
                  <a:pt x="233171" y="20827"/>
                </a:lnTo>
                <a:lnTo>
                  <a:pt x="250078" y="32123"/>
                </a:lnTo>
                <a:lnTo>
                  <a:pt x="265366" y="45530"/>
                </a:lnTo>
                <a:lnTo>
                  <a:pt x="278773" y="60818"/>
                </a:lnTo>
                <a:lnTo>
                  <a:pt x="290069" y="77724"/>
                </a:lnTo>
                <a:lnTo>
                  <a:pt x="299063" y="95961"/>
                </a:lnTo>
                <a:lnTo>
                  <a:pt x="305599" y="115216"/>
                </a:lnTo>
                <a:lnTo>
                  <a:pt x="309566" y="135158"/>
                </a:lnTo>
                <a:lnTo>
                  <a:pt x="310896" y="155448"/>
                </a:lnTo>
                <a:lnTo>
                  <a:pt x="309566" y="175738"/>
                </a:lnTo>
                <a:lnTo>
                  <a:pt x="305599" y="195680"/>
                </a:lnTo>
                <a:lnTo>
                  <a:pt x="299063" y="214935"/>
                </a:lnTo>
                <a:lnTo>
                  <a:pt x="290069" y="233171"/>
                </a:lnTo>
                <a:lnTo>
                  <a:pt x="278773" y="250078"/>
                </a:lnTo>
                <a:lnTo>
                  <a:pt x="265366" y="265366"/>
                </a:lnTo>
                <a:lnTo>
                  <a:pt x="250078" y="278773"/>
                </a:lnTo>
                <a:lnTo>
                  <a:pt x="233172" y="290069"/>
                </a:lnTo>
                <a:lnTo>
                  <a:pt x="214935" y="299063"/>
                </a:lnTo>
                <a:lnTo>
                  <a:pt x="195680" y="305599"/>
                </a:lnTo>
                <a:lnTo>
                  <a:pt x="175738" y="309566"/>
                </a:lnTo>
                <a:lnTo>
                  <a:pt x="155448" y="310896"/>
                </a:lnTo>
                <a:lnTo>
                  <a:pt x="135158" y="309566"/>
                </a:lnTo>
                <a:lnTo>
                  <a:pt x="115216" y="305599"/>
                </a:lnTo>
                <a:lnTo>
                  <a:pt x="95961" y="299063"/>
                </a:lnTo>
                <a:lnTo>
                  <a:pt x="77724" y="290069"/>
                </a:lnTo>
                <a:lnTo>
                  <a:pt x="60818" y="278773"/>
                </a:lnTo>
                <a:lnTo>
                  <a:pt x="45530" y="265366"/>
                </a:lnTo>
                <a:lnTo>
                  <a:pt x="32123" y="250078"/>
                </a:lnTo>
                <a:lnTo>
                  <a:pt x="20827" y="233172"/>
                </a:lnTo>
                <a:lnTo>
                  <a:pt x="11833" y="214935"/>
                </a:lnTo>
                <a:lnTo>
                  <a:pt x="5297" y="195680"/>
                </a:lnTo>
                <a:lnTo>
                  <a:pt x="1330" y="175738"/>
                </a:lnTo>
                <a:lnTo>
                  <a:pt x="0" y="155448"/>
                </a:lnTo>
                <a:lnTo>
                  <a:pt x="155448" y="155448"/>
                </a:lnTo>
                <a:close/>
              </a:path>
            </a:pathLst>
          </a:cu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516368" y="6044184"/>
            <a:ext cx="16459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04040"/>
                </a:solidFill>
                <a:latin typeface="Arial"/>
              </a:defRPr>
            </a:pPr>
            <a:r>
              <a:t>Strong</a:t>
            </a:r>
          </a:p>
        </p:txBody>
      </p:sp>
      <p:sp>
        <p:nvSpPr>
          <p:cNvPr id="106" name="Oval 105"/>
          <p:cNvSpPr/>
          <p:nvPr/>
        </p:nvSpPr>
        <p:spPr>
          <a:xfrm>
            <a:off x="9308592" y="6089904"/>
            <a:ext cx="310896" cy="31089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9308592" y="6089904"/>
            <a:ext cx="310896" cy="310896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710928" y="6044184"/>
            <a:ext cx="1645920" cy="4023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404040"/>
                </a:solidFill>
                <a:latin typeface="Arial"/>
              </a:defRPr>
            </a:pPr>
            <a:r>
              <a:t>Leading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Internal capability assessment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NPV Sensitivity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Impact on base-case NPV of $217M  ($M)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178040" y="1325880"/>
            <a:ext cx="0" cy="4663440"/>
          </a:xfrm>
          <a:prstGeom prst="line">
            <a:avLst/>
          </a:prstGeom>
          <a:ln w="12700">
            <a:solidFill>
              <a:srgbClr val="4040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92608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65176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$-60M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06908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$-40M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72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$-20M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7804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0372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Base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59536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32104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$20M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1268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73836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$40M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0" y="1325880"/>
            <a:ext cx="0" cy="466344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1155680" y="603504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7F7F7F"/>
                </a:solidFill>
                <a:latin typeface="Arial"/>
              </a:defRPr>
            </a:pPr>
            <a:r>
              <a:t>$60M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6472" y="1430121"/>
            <a:ext cx="3401568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78040" y="1430121"/>
            <a:ext cx="3685032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143012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Revenue growth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143012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$-48M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8792" y="143012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$+52M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97730" y="1978761"/>
            <a:ext cx="2480310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78040" y="1978761"/>
            <a:ext cx="2692908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2880" y="197876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94810" y="197876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$-35M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16668" y="197876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$+38M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10328" y="2527401"/>
            <a:ext cx="2267712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78040" y="2527401"/>
            <a:ext cx="2834640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2880" y="252740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Exit multiple (EV/EBITDA)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8" y="252740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$-32M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52740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$+40M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5132" y="3076041"/>
            <a:ext cx="2692908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78040" y="3076041"/>
            <a:ext cx="2125980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2880" y="307604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WACC / Discount rate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82212" y="307604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$-38M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9740" y="307604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$+30M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18988" y="3624681"/>
            <a:ext cx="1559052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178040" y="3624681"/>
            <a:ext cx="1275588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2880" y="362468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Working capital intensity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16068" y="362468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$-22M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9348" y="362468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$+18M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60720" y="4173321"/>
            <a:ext cx="1417320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178040" y="4173321"/>
            <a:ext cx="1133856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417332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Cost of goods sold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417332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$-20M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57616" y="417332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$+16M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02452" y="4721961"/>
            <a:ext cx="1275588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78040" y="4721961"/>
            <a:ext cx="1062990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82880" y="472196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Capex intensity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99532" y="472196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$-18M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6750" y="472196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$+15M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85916" y="5270601"/>
            <a:ext cx="992124" cy="340156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78040" y="5270601"/>
            <a:ext cx="850392" cy="340156"/>
          </a:xfrm>
          <a:prstGeom prst="rect">
            <a:avLst/>
          </a:prstGeom>
          <a:solidFill>
            <a:srgbClr val="70A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2880" y="5270601"/>
            <a:ext cx="2606040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404040"/>
                </a:solidFill>
                <a:latin typeface="Arial"/>
              </a:defRPr>
            </a:pPr>
            <a:r>
              <a:t>Tax rate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82996" y="527060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0000"/>
                </a:solidFill>
                <a:latin typeface="Arial"/>
              </a:defRPr>
            </a:pPr>
            <a:r>
              <a:t>$-14M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74152" y="5270601"/>
            <a:ext cx="475488" cy="3401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70AD47"/>
                </a:solidFill>
                <a:latin typeface="Arial"/>
              </a:defRPr>
            </a:pPr>
            <a:r>
              <a:t>$+12M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Financial model - sensitivity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11430000" cy="38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9144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000">
                <a:solidFill>
                  <a:srgbClr val="002060"/>
                </a:solidFill>
                <a:latin typeface="Arial"/>
              </a:defRPr>
            </a:pPr>
            <a:r>
              <a:t>Income Statement Sankey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7F7F7F"/>
                </a:solidFill>
                <a:latin typeface="Arial"/>
              </a:defRPr>
            </a:pPr>
            <a:r>
              <a:t>FY 2024  ($B)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F7F7F"/>
                </a:solidFill>
                <a:latin typeface="Arial"/>
              </a:defRPr>
            </a:pPr>
            <a:r>
              <a:t>Install matplotlib to render Sankey:  pip install matplotlib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7F7F7F"/>
                </a:solidFill>
                <a:latin typeface="Arial"/>
              </a:defRPr>
            </a:pPr>
            <a:r>
              <a:t>Source: Company financials FY2024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