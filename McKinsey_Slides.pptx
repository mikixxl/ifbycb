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Spacer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Benchmark
scope</c:v>
                </c:pt>
                <c:pt idx="1">
                  <c:v>Process
standardization</c:v>
                </c:pt>
                <c:pt idx="2">
                  <c:v>Strategic
importance</c:v>
                </c:pt>
                <c:pt idx="3">
                  <c:v>System
limitations</c:v>
                </c:pt>
                <c:pt idx="4">
                  <c:v>Signed-off
scope</c:v>
                </c:pt>
                <c:pt idx="5">
                  <c:v>Transferred
to date</c:v>
                </c:pt>
                <c:pt idx="6">
                  <c:v>To be
transferred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172</c:v>
                </c:pt>
                <c:pt idx="2">
                  <c:v>151</c:v>
                </c:pt>
                <c:pt idx="3">
                  <c:v>129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Scope reduction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D9D9D9"/>
              </a:solidFill>
            </a:ln>
          </c:spPr>
          <c:dLbls>
            <c:txPr>
              <a:bodyPr/>
              <a:lstStyle/>
              <a:p>
                <a:pPr>
                  <a:defRPr sz="900" b="1"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Benchmark
scope</c:v>
                </c:pt>
                <c:pt idx="1">
                  <c:v>Process
standardization</c:v>
                </c:pt>
                <c:pt idx="2">
                  <c:v>Strategic
importance</c:v>
                </c:pt>
                <c:pt idx="3">
                  <c:v>System
limitations</c:v>
                </c:pt>
                <c:pt idx="4">
                  <c:v>Signed-off
scope</c:v>
                </c:pt>
                <c:pt idx="5">
                  <c:v>Transferred
to date</c:v>
                </c:pt>
                <c:pt idx="6">
                  <c:v>To be
transferred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21</c:v>
                </c:pt>
                <c:pt idx="2">
                  <c:v>21</c:v>
                </c:pt>
                <c:pt idx="3">
                  <c:v>22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Accounting</c:v>
                </c:pt>
              </c:strCache>
            </c:strRef>
          </c:tx>
          <c:spPr>
            <a:solidFill>
              <a:srgbClr val="000000"/>
            </a:solidFill>
            <a:ln>
              <a:solidFill>
                <a:srgbClr val="000000"/>
              </a:solidFill>
            </a:ln>
          </c:spPr>
          <c:dLbls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Benchmark
scope</c:v>
                </c:pt>
                <c:pt idx="1">
                  <c:v>Process
standardization</c:v>
                </c:pt>
                <c:pt idx="2">
                  <c:v>Strategic
importance</c:v>
                </c:pt>
                <c:pt idx="3">
                  <c:v>System
limitations</c:v>
                </c:pt>
                <c:pt idx="4">
                  <c:v>Signed-off
scope</c:v>
                </c:pt>
                <c:pt idx="5">
                  <c:v>Transferred
to date</c:v>
                </c:pt>
                <c:pt idx="6">
                  <c:v>To be
transferred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66</c:v>
                </c:pt>
                <c:pt idx="5">
                  <c:v>45</c:v>
                </c:pt>
                <c:pt idx="6">
                  <c:v>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Customer Service</c:v>
                </c:pt>
              </c:strCache>
            </c:strRef>
          </c:tx>
          <c:spPr>
            <a:solidFill>
              <a:srgbClr val="002060"/>
            </a:solidFill>
            <a:ln>
              <a:solidFill>
                <a:srgbClr val="002060"/>
              </a:solidFill>
            </a:ln>
          </c:spPr>
          <c:dLbls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Benchmark
scope</c:v>
                </c:pt>
                <c:pt idx="1">
                  <c:v>Process
standardization</c:v>
                </c:pt>
                <c:pt idx="2">
                  <c:v>Strategic
importance</c:v>
                </c:pt>
                <c:pt idx="3">
                  <c:v>System
limitations</c:v>
                </c:pt>
                <c:pt idx="4">
                  <c:v>Signed-off
scope</c:v>
                </c:pt>
                <c:pt idx="5">
                  <c:v>Transferred
to date</c:v>
                </c:pt>
                <c:pt idx="6">
                  <c:v>To be
transferred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45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31</c:v>
                </c:pt>
                <c:pt idx="5">
                  <c:v>23</c:v>
                </c:pt>
                <c:pt idx="6">
                  <c:v>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Procurement</c:v>
                </c:pt>
              </c:strCache>
            </c:strRef>
          </c:tx>
          <c:spPr>
            <a:solidFill>
              <a:srgbClr val="1F5FA6"/>
            </a:solidFill>
            <a:ln>
              <a:solidFill>
                <a:srgbClr val="1F5FA6"/>
              </a:solidFill>
            </a:ln>
          </c:spPr>
          <c:dLbls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Benchmark
scope</c:v>
                </c:pt>
                <c:pt idx="1">
                  <c:v>Process
standardization</c:v>
                </c:pt>
                <c:pt idx="2">
                  <c:v>Strategic
importance</c:v>
                </c:pt>
                <c:pt idx="3">
                  <c:v>System
limitations</c:v>
                </c:pt>
                <c:pt idx="4">
                  <c:v>Signed-off
scope</c:v>
                </c:pt>
                <c:pt idx="5">
                  <c:v>Transferred
to date</c:v>
                </c:pt>
                <c:pt idx="6">
                  <c:v>To be
transferred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34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</c:v>
                </c:pt>
                <c:pt idx="5">
                  <c:v>19</c:v>
                </c:pt>
                <c:pt idx="6">
                  <c:v>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Sales Support</c:v>
                </c:pt>
              </c:strCache>
            </c:strRef>
          </c:tx>
          <c:spPr>
            <a:solidFill>
              <a:srgbClr val="9DC3E6"/>
            </a:solidFill>
            <a:ln>
              <a:solidFill>
                <a:srgbClr val="9DC3E6"/>
              </a:solidFill>
            </a:ln>
          </c:spPr>
          <c:dLbls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Benchmark
scope</c:v>
                </c:pt>
                <c:pt idx="1">
                  <c:v>Process
standardization</c:v>
                </c:pt>
                <c:pt idx="2">
                  <c:v>Strategic
importance</c:v>
                </c:pt>
                <c:pt idx="3">
                  <c:v>System
limitations</c:v>
                </c:pt>
                <c:pt idx="4">
                  <c:v>Signed-off
scope</c:v>
                </c:pt>
                <c:pt idx="5">
                  <c:v>Transferred
to date</c:v>
                </c:pt>
                <c:pt idx="6">
                  <c:v>To be
transferred</c:v>
                </c:pt>
              </c:strCache>
            </c: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13</c:v>
                </c:pt>
                <c:pt idx="5">
                  <c:v>8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Strongly Disagree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Supply chain is well-optimised</c:v>
                </c:pt>
                <c:pt idx="1">
                  <c:v>Supplier relationships are strong</c:v>
                </c:pt>
                <c:pt idx="2">
                  <c:v>Procurement process is efficient</c:v>
                </c:pt>
                <c:pt idx="3">
                  <c:v>Cost-savings targets are achievable</c:v>
                </c:pt>
                <c:pt idx="4">
                  <c:v>Technology tools are adequate</c:v>
                </c:pt>
                <c:pt idx="5">
                  <c:v>Sustainability goals are clear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-0.15</c:v>
                </c:pt>
                <c:pt idx="1">
                  <c:v>-0.1</c:v>
                </c:pt>
                <c:pt idx="2">
                  <c:v>-0.22</c:v>
                </c:pt>
                <c:pt idx="3">
                  <c:v>-0.05</c:v>
                </c:pt>
                <c:pt idx="4">
                  <c:v>-0.26</c:v>
                </c:pt>
                <c:pt idx="5">
                  <c:v>-0.12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Disagree</c:v>
                </c:pt>
              </c:strCache>
            </c:strRef>
          </c:tx>
          <c:spPr>
            <a:solidFill>
              <a:srgbClr val="FF7C80"/>
            </a:solidFill>
            <a:ln>
              <a:solidFill>
                <a:srgbClr val="FF7C80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Supply chain is well-optimised</c:v>
                </c:pt>
                <c:pt idx="1">
                  <c:v>Supplier relationships are strong</c:v>
                </c:pt>
                <c:pt idx="2">
                  <c:v>Procurement process is efficient</c:v>
                </c:pt>
                <c:pt idx="3">
                  <c:v>Cost-savings targets are achievable</c:v>
                </c:pt>
                <c:pt idx="4">
                  <c:v>Technology tools are adequate</c:v>
                </c:pt>
                <c:pt idx="5">
                  <c:v>Sustainability goals are clear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-0.22</c:v>
                </c:pt>
                <c:pt idx="1">
                  <c:v>-0.18</c:v>
                </c:pt>
                <c:pt idx="2">
                  <c:v>-0.28</c:v>
                </c:pt>
                <c:pt idx="3">
                  <c:v>-0.12</c:v>
                </c:pt>
                <c:pt idx="4">
                  <c:v>-0.19</c:v>
                </c:pt>
                <c:pt idx="5">
                  <c:v>-0.15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Agree</c:v>
                </c:pt>
              </c:strCache>
            </c:strRef>
          </c:tx>
          <c:spPr>
            <a:solidFill>
              <a:srgbClr val="9DC3E6"/>
            </a:solidFill>
            <a:ln>
              <a:solidFill>
                <a:srgbClr val="9DC3E6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Supply chain is well-optimised</c:v>
                </c:pt>
                <c:pt idx="1">
                  <c:v>Supplier relationships are strong</c:v>
                </c:pt>
                <c:pt idx="2">
                  <c:v>Procurement process is efficient</c:v>
                </c:pt>
                <c:pt idx="3">
                  <c:v>Cost-savings targets are achievable</c:v>
                </c:pt>
                <c:pt idx="4">
                  <c:v>Technology tools are adequate</c:v>
                </c:pt>
                <c:pt idx="5">
                  <c:v>Sustainability goals are clear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</c:v>
                </c:pt>
                <c:pt idx="1">
                  <c:v>0.42</c:v>
                </c:pt>
                <c:pt idx="2">
                  <c:v>0.25</c:v>
                </c:pt>
                <c:pt idx="3">
                  <c:v>0.5</c:v>
                </c:pt>
                <c:pt idx="4">
                  <c:v>0.28</c:v>
                </c:pt>
                <c:pt idx="5">
                  <c:v>0.4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Strongly Agree</c:v>
                </c:pt>
              </c:strCache>
            </c:strRef>
          </c:tx>
          <c:spPr>
            <a:solidFill>
              <a:srgbClr val="002060"/>
            </a:solidFill>
            <a:ln>
              <a:solidFill>
                <a:srgbClr val="002060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Supply chain is well-optimised</c:v>
                </c:pt>
                <c:pt idx="1">
                  <c:v>Supplier relationships are strong</c:v>
                </c:pt>
                <c:pt idx="2">
                  <c:v>Procurement process is efficient</c:v>
                </c:pt>
                <c:pt idx="3">
                  <c:v>Cost-savings targets are achievable</c:v>
                </c:pt>
                <c:pt idx="4">
                  <c:v>Technology tools are adequate</c:v>
                </c:pt>
                <c:pt idx="5">
                  <c:v>Sustainability goals are clear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0.25</c:v>
                </c:pt>
                <c:pt idx="1">
                  <c:v>0.3</c:v>
                </c:pt>
                <c:pt idx="2">
                  <c:v>0.25</c:v>
                </c:pt>
                <c:pt idx="3">
                  <c:v>0.33</c:v>
                </c:pt>
                <c:pt idx="4">
                  <c:v>0.27</c:v>
                </c:pt>
                <c:pt idx="5">
                  <c:v>0.33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30% Off</c:v>
                </c:pt>
              </c:strCache>
            </c:strRef>
          </c:tx>
          <c:spPr>
            <a:solidFill>
              <a:srgbClr val="002060"/>
            </a:solidFill>
            <a:ln>
              <a:solidFill>
                <a:srgbClr val="002060"/>
              </a:solidFill>
            </a:ln>
          </c:spPr>
          <c:xVal>
            <c:numRef>
              <c:f>Sheet1!$A$2:$A$8</c:f>
              <c:numCache>
                <c:formatCode>General</c:formatCode>
                <c:ptCount val="7"/>
                <c:pt idx="0">
                  <c:v>100</c:v>
                </c:pt>
                <c:pt idx="1">
                  <c:v>200</c:v>
                </c:pt>
                <c:pt idx="2">
                  <c:v>320</c:v>
                </c:pt>
                <c:pt idx="3">
                  <c:v>480</c:v>
                </c:pt>
                <c:pt idx="4">
                  <c:v>650</c:v>
                </c:pt>
                <c:pt idx="5">
                  <c:v>820</c:v>
                </c:pt>
                <c:pt idx="6">
                  <c:v>950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45</c:v>
                </c:pt>
                <c:pt idx="1">
                  <c:v>42</c:v>
                </c:pt>
                <c:pt idx="2">
                  <c:v>39</c:v>
                </c:pt>
                <c:pt idx="3">
                  <c:v>35</c:v>
                </c:pt>
                <c:pt idx="4">
                  <c:v>31</c:v>
                </c:pt>
                <c:pt idx="5">
                  <c:v>28</c:v>
                </c:pt>
                <c:pt idx="6">
                  <c:v>25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Sheet1!$B$10</c:f>
              <c:strCache>
                <c:ptCount val="1"/>
                <c:pt idx="0">
                  <c:v>Buy 2 Get 1 Free</c:v>
                </c:pt>
              </c:strCache>
            </c:strRef>
          </c:tx>
          <c:spPr>
            <a:solidFill>
              <a:srgbClr val="1F5FA6"/>
            </a:solidFill>
            <a:ln>
              <a:solidFill>
                <a:srgbClr val="1F5FA6"/>
              </a:solidFill>
            </a:ln>
          </c:spPr>
          <c:xVal>
            <c:numRef>
              <c:f>Sheet1!$A$11:$A$17</c:f>
              <c:numCache>
                <c:formatCode>General</c:formatCode>
                <c:ptCount val="7"/>
                <c:pt idx="0">
                  <c:v>150</c:v>
                </c:pt>
                <c:pt idx="1">
                  <c:v>280</c:v>
                </c:pt>
                <c:pt idx="2">
                  <c:v>410</c:v>
                </c:pt>
                <c:pt idx="3">
                  <c:v>560</c:v>
                </c:pt>
                <c:pt idx="4">
                  <c:v>710</c:v>
                </c:pt>
                <c:pt idx="5">
                  <c:v>860</c:v>
                </c:pt>
                <c:pt idx="6">
                  <c:v>980</c:v>
                </c:pt>
              </c:numCache>
            </c:numRef>
          </c:xVal>
          <c:yVal>
            <c:numRef>
              <c:f>Sheet1!$B$11:$B$17</c:f>
              <c:numCache>
                <c:formatCode>General</c:formatCode>
                <c:ptCount val="7"/>
                <c:pt idx="0">
                  <c:v>40</c:v>
                </c:pt>
                <c:pt idx="1">
                  <c:v>37</c:v>
                </c:pt>
                <c:pt idx="2">
                  <c:v>33</c:v>
                </c:pt>
                <c:pt idx="3">
                  <c:v>30</c:v>
                </c:pt>
                <c:pt idx="4">
                  <c:v>27</c:v>
                </c:pt>
                <c:pt idx="5">
                  <c:v>24</c:v>
                </c:pt>
                <c:pt idx="6">
                  <c:v>22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Sheet1!$B$19</c:f>
              <c:strCache>
                <c:ptCount val="1"/>
                <c:pt idx="0">
                  <c:v>Target GM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xVal>
            <c:numRef>
              <c:f>Sheet1!$A$20:$A$21</c:f>
              <c:numCache>
                <c:formatCode>General</c:formatCode>
                <c:ptCount val="2"/>
                <c:pt idx="0">
                  <c:v>80</c:v>
                </c:pt>
                <c:pt idx="1">
                  <c:v>1000</c:v>
                </c:pt>
              </c:numCache>
            </c:numRef>
          </c:xVal>
          <c:yVal>
            <c:numRef>
              <c:f>Sheet1!$B$20:$B$21</c:f>
              <c:numCache>
                <c:formatCode>General</c:formatCode>
                <c:ptCount val="2"/>
                <c:pt idx="0">
                  <c:v>30</c:v>
                </c:pt>
                <c:pt idx="1">
                  <c:v>30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800" b="1">
                <a:solidFill>
                  <a:srgbClr val="002060"/>
                </a:solidFill>
                <a:latin typeface="Arial"/>
              </a:defRPr>
            </a:pPr>
            <a:r>
              <a:t>2019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dPt>
            <c:idx val="0"/>
            <c:spPr>
              <a:solidFill>
                <a:srgbClr val="002060"/>
              </a:solidFill>
            </c:spPr>
          </c:dPt>
          <c:dPt>
            <c:idx val="1"/>
            <c:spPr>
              <a:solidFill>
                <a:srgbClr val="1F5FA6"/>
              </a:solidFill>
            </c:spPr>
          </c:dPt>
          <c:dPt>
            <c:idx val="2"/>
            <c:spPr>
              <a:solidFill>
                <a:srgbClr val="9DC3E6"/>
              </a:solidFill>
            </c:spPr>
          </c:dPt>
          <c:dPt>
            <c:idx val="3"/>
            <c:spPr>
              <a:solidFill>
                <a:srgbClr val="BDD7EE"/>
              </a:solidFill>
            </c:spPr>
          </c:dPt>
          <c:dPt>
            <c:idx val="4"/>
            <c:spPr>
              <a:solidFill>
                <a:srgbClr val="7F7F7F"/>
              </a:solidFill>
            </c:spPr>
          </c:dPt>
          <c:dPt>
            <c:idx val="5"/>
            <c:spPr>
              <a:solidFill>
                <a:srgbClr val="D9D9D9"/>
              </a:solidFill>
            </c:spPr>
          </c:dPt>
          <c:cat>
            <c:strRef>
              <c:f>Sheet1!$A$2:$A$7</c:f>
              <c:strCache>
                <c:ptCount val="6"/>
                <c:pt idx="0">
                  <c:v>Electronics</c:v>
                </c:pt>
                <c:pt idx="1">
                  <c:v>Fashion</c:v>
                </c:pt>
                <c:pt idx="2">
                  <c:v>Home &amp; Garden</c:v>
                </c:pt>
                <c:pt idx="3">
                  <c:v>Sports</c:v>
                </c:pt>
                <c:pt idx="4">
                  <c:v>Beauty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0.35</c:v>
                </c:pt>
                <c:pt idx="1">
                  <c:v>0.2</c:v>
                </c:pt>
                <c:pt idx="2">
                  <c:v>0.18</c:v>
                </c:pt>
                <c:pt idx="3">
                  <c:v>0.12</c:v>
                </c:pt>
                <c:pt idx="4">
                  <c:v>0.09</c:v>
                </c:pt>
                <c:pt idx="5">
                  <c:v>0.06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800" b="1">
                <a:solidFill>
                  <a:srgbClr val="002060"/>
                </a:solidFill>
                <a:latin typeface="Arial"/>
              </a:defRPr>
            </a:pPr>
            <a:r>
              <a:t>2021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dPt>
            <c:idx val="0"/>
            <c:spPr>
              <a:solidFill>
                <a:srgbClr val="002060"/>
              </a:solidFill>
            </c:spPr>
          </c:dPt>
          <c:dPt>
            <c:idx val="1"/>
            <c:spPr>
              <a:solidFill>
                <a:srgbClr val="1F5FA6"/>
              </a:solidFill>
            </c:spPr>
          </c:dPt>
          <c:dPt>
            <c:idx val="2"/>
            <c:spPr>
              <a:solidFill>
                <a:srgbClr val="9DC3E6"/>
              </a:solidFill>
            </c:spPr>
          </c:dPt>
          <c:dPt>
            <c:idx val="3"/>
            <c:spPr>
              <a:solidFill>
                <a:srgbClr val="BDD7EE"/>
              </a:solidFill>
            </c:spPr>
          </c:dPt>
          <c:dPt>
            <c:idx val="4"/>
            <c:spPr>
              <a:solidFill>
                <a:srgbClr val="7F7F7F"/>
              </a:solidFill>
            </c:spPr>
          </c:dPt>
          <c:dPt>
            <c:idx val="5"/>
            <c:spPr>
              <a:solidFill>
                <a:srgbClr val="D9D9D9"/>
              </a:solidFill>
            </c:spPr>
          </c:dPt>
          <c:cat>
            <c:strRef>
              <c:f>Sheet1!$A$2:$A$7</c:f>
              <c:strCache>
                <c:ptCount val="6"/>
                <c:pt idx="0">
                  <c:v>Electronics</c:v>
                </c:pt>
                <c:pt idx="1">
                  <c:v>Fashion</c:v>
                </c:pt>
                <c:pt idx="2">
                  <c:v>Home &amp; Garden</c:v>
                </c:pt>
                <c:pt idx="3">
                  <c:v>Sports</c:v>
                </c:pt>
                <c:pt idx="4">
                  <c:v>Beauty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0.38</c:v>
                </c:pt>
                <c:pt idx="1">
                  <c:v>0.22</c:v>
                </c:pt>
                <c:pt idx="2">
                  <c:v>0.16</c:v>
                </c:pt>
                <c:pt idx="3">
                  <c:v>0.11</c:v>
                </c:pt>
                <c:pt idx="4">
                  <c:v>0.08</c:v>
                </c:pt>
                <c:pt idx="5">
                  <c:v>0.05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800" b="1">
                <a:solidFill>
                  <a:srgbClr val="002060"/>
                </a:solidFill>
                <a:latin typeface="Arial"/>
              </a:defRPr>
            </a:pPr>
            <a:r>
              <a:t>2024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dPt>
            <c:idx val="0"/>
            <c:spPr>
              <a:solidFill>
                <a:srgbClr val="002060"/>
              </a:solidFill>
            </c:spPr>
          </c:dPt>
          <c:dPt>
            <c:idx val="1"/>
            <c:spPr>
              <a:solidFill>
                <a:srgbClr val="1F5FA6"/>
              </a:solidFill>
            </c:spPr>
          </c:dPt>
          <c:dPt>
            <c:idx val="2"/>
            <c:spPr>
              <a:solidFill>
                <a:srgbClr val="9DC3E6"/>
              </a:solidFill>
            </c:spPr>
          </c:dPt>
          <c:dPt>
            <c:idx val="3"/>
            <c:spPr>
              <a:solidFill>
                <a:srgbClr val="BDD7EE"/>
              </a:solidFill>
            </c:spPr>
          </c:dPt>
          <c:dPt>
            <c:idx val="4"/>
            <c:spPr>
              <a:solidFill>
                <a:srgbClr val="7F7F7F"/>
              </a:solidFill>
            </c:spPr>
          </c:dPt>
          <c:dPt>
            <c:idx val="5"/>
            <c:spPr>
              <a:solidFill>
                <a:srgbClr val="D9D9D9"/>
              </a:solidFill>
            </c:spPr>
          </c:dPt>
          <c:cat>
            <c:strRef>
              <c:f>Sheet1!$A$2:$A$7</c:f>
              <c:strCache>
                <c:ptCount val="6"/>
                <c:pt idx="0">
                  <c:v>Electronics</c:v>
                </c:pt>
                <c:pt idx="1">
                  <c:v>Fashion</c:v>
                </c:pt>
                <c:pt idx="2">
                  <c:v>Home &amp; Garden</c:v>
                </c:pt>
                <c:pt idx="3">
                  <c:v>Sports</c:v>
                </c:pt>
                <c:pt idx="4">
                  <c:v>Beauty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0.42</c:v>
                </c:pt>
                <c:pt idx="1">
                  <c:v>0.19</c:v>
                </c:pt>
                <c:pt idx="2">
                  <c:v>0.15</c:v>
                </c:pt>
                <c:pt idx="3">
                  <c:v>0.1</c:v>
                </c:pt>
                <c:pt idx="4">
                  <c:v>0.09</c:v>
                </c:pt>
                <c:pt idx="5">
                  <c:v>0.05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Min (hidden)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85</c:v>
                </c:pt>
                <c:pt idx="2">
                  <c:v>78</c:v>
                </c:pt>
                <c:pt idx="3">
                  <c:v>90</c:v>
                </c:pt>
                <c:pt idx="4">
                  <c:v>88</c:v>
                </c:pt>
                <c:pt idx="5">
                  <c:v>82</c:v>
                </c:pt>
                <c:pt idx="6">
                  <c:v>95</c:v>
                </c:pt>
                <c:pt idx="7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3-Year Range</c:v>
                </c:pt>
              </c:strCache>
            </c:strRef>
          </c:tx>
          <c:spPr>
            <a:solidFill>
              <a:srgbClr val="BDD7EE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40</c:v>
                </c:pt>
                <c:pt idx="1">
                  <c:v>40</c:v>
                </c:pt>
                <c:pt idx="2">
                  <c:v>37</c:v>
                </c:pt>
                <c:pt idx="3">
                  <c:v>40</c:v>
                </c:pt>
                <c:pt idx="4">
                  <c:v>40</c:v>
                </c:pt>
                <c:pt idx="5">
                  <c:v>38</c:v>
                </c:pt>
                <c:pt idx="6">
                  <c:v>45</c:v>
                </c:pt>
                <c:pt idx="7">
                  <c:v>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3-Year Avg</c:v>
                </c:pt>
              </c:strCache>
            </c:strRef>
          </c:tx>
          <c:spPr>
            <a:solidFill>
              <a:srgbClr val="7F7F7F"/>
            </a:solidFill>
            <a:ln>
              <a:solidFill>
                <a:srgbClr val="7F7F7F"/>
              </a:solidFill>
            </a:ln>
          </c:spPr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100</c:v>
                </c:pt>
                <c:pt idx="1">
                  <c:v>105</c:v>
                </c:pt>
                <c:pt idx="2">
                  <c:v>97</c:v>
                </c:pt>
                <c:pt idx="3">
                  <c:v>110</c:v>
                </c:pt>
                <c:pt idx="4">
                  <c:v>108</c:v>
                </c:pt>
                <c:pt idx="5">
                  <c:v>101</c:v>
                </c:pt>
                <c:pt idx="6">
                  <c:v>118</c:v>
                </c:pt>
                <c:pt idx="7">
                  <c:v>113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002060"/>
            </a:solidFill>
            <a:ln>
              <a:solidFill>
                <a:srgbClr val="002060"/>
              </a:solidFill>
            </a:ln>
          </c:spPr>
          <c:dLbls>
            <c:txPr>
              <a:bodyPr/>
              <a:lstStyle/>
              <a:p>
                <a:pPr>
                  <a:defRPr sz="800" b="1"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95</c:v>
                </c:pt>
                <c:pt idx="1">
                  <c:v>108</c:v>
                </c:pt>
                <c:pt idx="2">
                  <c:v>102</c:v>
                </c:pt>
                <c:pt idx="3">
                  <c:v>115</c:v>
                </c:pt>
                <c:pt idx="4">
                  <c:v>112</c:v>
                </c:pt>
                <c:pt idx="5">
                  <c:v>98</c:v>
                </c:pt>
                <c:pt idx="6">
                  <c:v>125</c:v>
                </c:pt>
                <c:pt idx="7">
                  <c:v>120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110</c:v>
                </c:pt>
                <c:pt idx="1">
                  <c:v>110</c:v>
                </c:pt>
                <c:pt idx="2">
                  <c:v>110</c:v>
                </c:pt>
                <c:pt idx="3">
                  <c:v>110</c:v>
                </c:pt>
                <c:pt idx="4">
                  <c:v>110</c:v>
                </c:pt>
                <c:pt idx="5">
                  <c:v>110</c:v>
                </c:pt>
                <c:pt idx="6">
                  <c:v>110</c:v>
                </c:pt>
                <c:pt idx="7">
                  <c:v>110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Global Business Services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FTE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34440"/>
          <a:ext cx="114300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Internal HR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Purchasing Manager's Sentiment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% that agree with the following statements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34440"/>
          <a:ext cx="105156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881360" y="146304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0AD47"/>
                </a:solidFill>
                <a:latin typeface="Arial"/>
              </a:defRPr>
            </a:pPr>
            <a:r>
              <a:t>▲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2176272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00000"/>
                </a:solidFill>
                <a:latin typeface="Arial"/>
              </a:defRPr>
            </a:pPr>
            <a:r>
              <a:t>▼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2889504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0AD47"/>
                </a:solidFill>
                <a:latin typeface="Arial"/>
              </a:defRPr>
            </a:pPr>
            <a:r>
              <a:t>▲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3602736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0AD47"/>
                </a:solidFill>
                <a:latin typeface="Arial"/>
              </a:defRPr>
            </a:pPr>
            <a:r>
              <a:t>▲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431596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00000"/>
                </a:solidFill>
                <a:latin typeface="Arial"/>
              </a:defRPr>
            </a:pPr>
            <a:r>
              <a:t>▼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502920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0AD47"/>
                </a:solidFill>
                <a:latin typeface="Arial"/>
              </a:defRPr>
            </a:pPr>
            <a:r>
              <a:t>▲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Annual Procurement Survey 2024  |  n = 245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Gross Margin Analysis by Promotion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GM cents per unit vs. units sold (indexed, base = 100)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234440"/>
          <a:ext cx="105156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Trade &amp; Promotions dataset Q1–Q4 2024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Online Revenue by Category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Share of total revenue, %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34440"/>
          <a:ext cx="3749039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60520" y="1234440"/>
          <a:ext cx="3749039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955279" y="1234440"/>
          <a:ext cx="3749039" cy="43891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6035040"/>
            <a:ext cx="1737360" cy="320040"/>
          </a:xfrm>
          <a:prstGeom prst="rect">
            <a:avLst/>
          </a:prstGeom>
          <a:solidFill>
            <a:srgbClr val="002060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Electronics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6035040"/>
            <a:ext cx="1737360" cy="320040"/>
          </a:xfrm>
          <a:prstGeom prst="rect">
            <a:avLst/>
          </a:prstGeom>
          <a:solidFill>
            <a:srgbClr val="1F5FA6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Fashion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6035040"/>
            <a:ext cx="1737360" cy="320040"/>
          </a:xfrm>
          <a:prstGeom prst="rect">
            <a:avLst/>
          </a:prstGeom>
          <a:solidFill>
            <a:srgbClr val="9DC3E6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  <a:latin typeface="Arial"/>
              </a:defRPr>
            </a:pPr>
            <a:r>
              <a:t>Home &amp; Garden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6035040"/>
            <a:ext cx="1737360" cy="320040"/>
          </a:xfrm>
          <a:prstGeom prst="rect">
            <a:avLst/>
          </a:prstGeom>
          <a:solidFill>
            <a:srgbClr val="BDD7EE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  <a:latin typeface="Arial"/>
              </a:defRPr>
            </a:pPr>
            <a:r>
              <a:t>Sports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035040"/>
            <a:ext cx="1737360" cy="320040"/>
          </a:xfrm>
          <a:prstGeom prst="rect">
            <a:avLst/>
          </a:prstGeom>
          <a:solidFill>
            <a:srgbClr val="7F7F7F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Beauty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6035040"/>
            <a:ext cx="1737360" cy="320040"/>
          </a:xfrm>
          <a:prstGeom prst="rect">
            <a:avLst/>
          </a:prstGeom>
          <a:solidFill>
            <a:srgbClr val="D9D9D9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  <a:latin typeface="Arial"/>
              </a:defRPr>
            </a:pPr>
            <a:r>
              <a:t>Other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E-commerce Analytics Platform 2024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Daily Shipment Volume – Saturdays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Units (thousands)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34440"/>
          <a:ext cx="114300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Logistics Operations Data 2024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Market Landscape by Region &amp; Product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Column width = market size ($M)  |  Height = share within region (%)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80160"/>
            <a:ext cx="2767584" cy="18288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307592"/>
            <a:ext cx="2712720" cy="1773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40%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108960"/>
            <a:ext cx="2767584" cy="1371600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36392"/>
            <a:ext cx="2712720" cy="1316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30%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480560"/>
            <a:ext cx="2767584" cy="914400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07992"/>
            <a:ext cx="2712720" cy="8595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20%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394960"/>
            <a:ext cx="2767584" cy="457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2392"/>
            <a:ext cx="27127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10%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280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2060"/>
                </a:solidFill>
                <a:latin typeface="Arial"/>
              </a:defRPr>
            </a:pPr>
            <a:r>
              <a:t>Europe</a:t>
            </a:r>
            <a:br/>
            <a:r>
              <a:t>$320M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27120" y="1280160"/>
            <a:ext cx="4169664" cy="1600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2840" y="1307592"/>
            <a:ext cx="4114800" cy="1545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35%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7120" y="2880360"/>
            <a:ext cx="4169664" cy="1371600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72840" y="2907792"/>
            <a:ext cx="4114800" cy="1316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30%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27120" y="4251960"/>
            <a:ext cx="4169664" cy="1143000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2840" y="4279392"/>
            <a:ext cx="4114800" cy="1088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25%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27120" y="5394960"/>
            <a:ext cx="4169664" cy="457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72840" y="5422392"/>
            <a:ext cx="41148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27120" y="594360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2060"/>
                </a:solidFill>
                <a:latin typeface="Arial"/>
              </a:defRPr>
            </a:pPr>
            <a:r>
              <a:t>North America</a:t>
            </a:r>
            <a:br/>
            <a:r>
              <a:t>$480M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33360" y="1280160"/>
            <a:ext cx="2241804" cy="1143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79080" y="1307592"/>
            <a:ext cx="2186940" cy="1088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25%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33360" y="2423160"/>
            <a:ext cx="2241804" cy="1600200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79080" y="2450592"/>
            <a:ext cx="2186940" cy="1545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35%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33360" y="4023360"/>
            <a:ext cx="2241804" cy="1371600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79080" y="4050792"/>
            <a:ext cx="2186940" cy="1316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30%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33360" y="5394960"/>
            <a:ext cx="2241804" cy="457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79080" y="5422392"/>
            <a:ext cx="218694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10%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33360" y="5943600"/>
            <a:ext cx="22783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2060"/>
                </a:solidFill>
                <a:latin typeface="Arial"/>
              </a:defRPr>
            </a:pPr>
            <a:r>
              <a:t>Asia Pacific</a:t>
            </a:r>
            <a:br/>
            <a:r>
              <a:t>$260M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11740" y="1280160"/>
            <a:ext cx="1190244" cy="9144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57460" y="1307592"/>
            <a:ext cx="1135380" cy="8595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20%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11740" y="2194560"/>
            <a:ext cx="1190244" cy="1371600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57460" y="2221992"/>
            <a:ext cx="1135380" cy="1316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30%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11740" y="3566160"/>
            <a:ext cx="1190244" cy="1600200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57460" y="3593592"/>
            <a:ext cx="1135380" cy="1545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35%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11740" y="5166360"/>
            <a:ext cx="1190244" cy="6858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57460" y="5193792"/>
            <a:ext cx="1135380" cy="630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15%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11740" y="5943600"/>
            <a:ext cx="12268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2060"/>
                </a:solidFill>
                <a:latin typeface="Arial"/>
              </a:defRPr>
            </a:pPr>
            <a:r>
              <a:t>Rest of World</a:t>
            </a:r>
            <a:br/>
            <a:r>
              <a:t>$140M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1280160"/>
            <a:ext cx="1371600" cy="320040"/>
          </a:xfrm>
          <a:prstGeom prst="rect">
            <a:avLst/>
          </a:prstGeom>
          <a:solidFill>
            <a:srgbClr val="002060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Premium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1645920"/>
            <a:ext cx="1371600" cy="320040"/>
          </a:xfrm>
          <a:prstGeom prst="rect">
            <a:avLst/>
          </a:prstGeom>
          <a:solidFill>
            <a:srgbClr val="1F5FA6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Mid-Range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2011680"/>
            <a:ext cx="1371600" cy="320040"/>
          </a:xfrm>
          <a:prstGeom prst="rect">
            <a:avLst/>
          </a:prstGeom>
          <a:solidFill>
            <a:srgbClr val="9DC3E6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  <a:latin typeface="Arial"/>
              </a:defRPr>
            </a:pPr>
            <a:r>
              <a:t>Value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2377440"/>
            <a:ext cx="1371600" cy="320040"/>
          </a:xfrm>
          <a:prstGeom prst="rect">
            <a:avLst/>
          </a:prstGeom>
          <a:solidFill>
            <a:srgbClr val="D9D9D9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  <a:latin typeface="Arial"/>
              </a:defRPr>
            </a:pPr>
            <a:r>
              <a:t>Other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Market Intelligence Report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